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nton" charset="1" panose="00000500000000000000"/>
      <p:regular r:id="rId20"/>
    </p:embeddedFon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  <p:embeddedFont>
      <p:font typeface="Open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57400" y="-154305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13177" y="661855"/>
            <a:ext cx="17174823" cy="581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88"/>
              </a:lnSpc>
            </a:pPr>
            <a:r>
              <a:rPr lang="en-US" sz="1274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MINING</a:t>
            </a:r>
          </a:p>
          <a:p>
            <a:pPr algn="l">
              <a:lnSpc>
                <a:spcPts val="15288"/>
              </a:lnSpc>
            </a:pPr>
            <a:r>
              <a:rPr lang="en-US" sz="1274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MAGIC GAMMA TELESCOPE — PROJECT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3177" y="6367393"/>
            <a:ext cx="14345747" cy="391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Subtitle: Outlier Detection, Clustering, and Association Rule Mining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Made by: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Ziad Waleed Waheed || 202200703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Ziad Alaa Osman || 202203811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Ramez Fawzy Ragheb || 202203946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 supervision of : Dr. Reeham Gabr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TA. Hagar Mohamed</a:t>
            </a:r>
          </a:p>
          <a:p>
            <a:pPr algn="l">
              <a:lnSpc>
                <a:spcPts val="3917"/>
              </a:lnSpc>
            </a:pPr>
            <a:r>
              <a:rPr lang="en-US" sz="2797" spc="17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TA. Shaimaa Anwar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3146" y="245866"/>
            <a:ext cx="1191540" cy="11915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41813" y="8802151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241813" y="8440825"/>
            <a:ext cx="1191540" cy="119154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021" y="9432581"/>
            <a:ext cx="399568" cy="39956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41813" y="1882401"/>
            <a:ext cx="712885" cy="71288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51030" y="4349936"/>
            <a:ext cx="11381566" cy="113815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7727421"/>
            <a:ext cx="1038609" cy="103860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837583" y="1599948"/>
            <a:ext cx="399568" cy="39956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3479" y="9063680"/>
            <a:ext cx="389240" cy="38924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624682" y="1989991"/>
            <a:ext cx="7038635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OBJECTIVES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1042" y="4302311"/>
            <a:ext cx="15885917" cy="391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939" indent="-345970" lvl="1">
              <a:lnSpc>
                <a:spcPts val="4486"/>
              </a:lnSpc>
              <a:buFont typeface="Arial"/>
              <a:buChar char="•"/>
            </a:pPr>
            <a:r>
              <a:rPr lang="en-US" b="true" sz="3204" spc="2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Apply three core techniques on the MAGIC dataset:</a:t>
            </a:r>
          </a:p>
          <a:p>
            <a:pPr algn="l" marL="691939" indent="-345970" lvl="1">
              <a:lnSpc>
                <a:spcPts val="4486"/>
              </a:lnSpc>
              <a:buFont typeface="Arial"/>
              <a:buChar char="•"/>
            </a:pPr>
            <a:r>
              <a:rPr lang="en-US" b="true" sz="3204" spc="2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Outlier Detection (reduce noise / anomalies)</a:t>
            </a:r>
          </a:p>
          <a:p>
            <a:pPr algn="l" marL="691939" indent="-345970" lvl="1">
              <a:lnSpc>
                <a:spcPts val="4486"/>
              </a:lnSpc>
              <a:buFont typeface="Arial"/>
              <a:buChar char="•"/>
            </a:pPr>
            <a:r>
              <a:rPr lang="en-US" b="true" sz="3204" spc="2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Clustering (discover structure)</a:t>
            </a:r>
          </a:p>
          <a:p>
            <a:pPr algn="l" marL="691939" indent="-345970" lvl="1">
              <a:lnSpc>
                <a:spcPts val="4486"/>
              </a:lnSpc>
              <a:buFont typeface="Arial"/>
              <a:buChar char="•"/>
            </a:pPr>
            <a:r>
              <a:rPr lang="en-US" b="true" sz="3204" spc="2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Frequent Itemset &amp; Association Rule Mining (explain patterns)</a:t>
            </a:r>
          </a:p>
          <a:p>
            <a:pPr algn="l" marL="691939" indent="-345970" lvl="1">
              <a:lnSpc>
                <a:spcPts val="4486"/>
              </a:lnSpc>
              <a:buFont typeface="Arial"/>
              <a:buChar char="•"/>
            </a:pPr>
            <a:r>
              <a:rPr lang="en-US" b="true" sz="3204" spc="20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Produce clear, reproducible figures and a concise summary of findings.</a:t>
            </a:r>
          </a:p>
          <a:p>
            <a:pPr algn="l">
              <a:lnSpc>
                <a:spcPts val="448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1357" y="-3758347"/>
            <a:ext cx="8549194" cy="85491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9132" y="516250"/>
            <a:ext cx="399568" cy="39956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4512" y="4824574"/>
            <a:ext cx="389240" cy="38924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590423"/>
            <a:ext cx="7038635" cy="286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DATASET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573845"/>
            <a:ext cx="7171497" cy="84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spc="15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Source: UCI Machine Learning Repository (MAGIC Gamma Telescope)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228145"/>
            <a:ext cx="10661350" cy="321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934" indent="-329467" lvl="1">
              <a:lnSpc>
                <a:spcPts val="5188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52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ows/Cols: </a:t>
            </a:r>
          </a:p>
          <a:p>
            <a:pPr algn="l" marL="658934" indent="-329467" lvl="1">
              <a:lnSpc>
                <a:spcPts val="5188"/>
              </a:lnSpc>
              <a:spcBef>
                <a:spcPct val="0"/>
              </a:spcBef>
              <a:buFont typeface="Arial"/>
              <a:buChar char="•"/>
            </a:pPr>
            <a:r>
              <a:rPr lang="en-US" sz="3052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Target: class (g = gamma, h = hadron)</a:t>
            </a:r>
          </a:p>
          <a:p>
            <a:pPr algn="l" marL="658934" indent="-329467" lvl="1">
              <a:lnSpc>
                <a:spcPts val="5188"/>
              </a:lnSpc>
              <a:spcBef>
                <a:spcPct val="0"/>
              </a:spcBef>
              <a:buFont typeface="Arial"/>
              <a:buChar char="•"/>
            </a:pPr>
            <a:r>
              <a:rPr lang="en-US" sz="3052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Features (10 numeric): fLength, fWidth, fSize, fConc, fConc1, fAsym, fM3Long, fM3Trans, fAlpha, fDist</a:t>
            </a:r>
          </a:p>
          <a:p>
            <a:pPr algn="l" marL="0" indent="0" lvl="0">
              <a:lnSpc>
                <a:spcPts val="51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37583" y="1599948"/>
            <a:ext cx="399568" cy="39956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2708" y="4690624"/>
            <a:ext cx="631360" cy="6313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25019" y="2518924"/>
            <a:ext cx="14237963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WORKFLOW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0021" y="4650784"/>
            <a:ext cx="9919751" cy="67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080" indent="-426040" lvl="1">
              <a:lnSpc>
                <a:spcPts val="5525"/>
              </a:lnSpc>
              <a:buAutoNum type="arabicPeriod" startAt="1"/>
            </a:pPr>
            <a:r>
              <a:rPr lang="en-US" b="true" sz="3946" spc="25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checks &amp; preprocessing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2708" y="5911990"/>
            <a:ext cx="626887" cy="62688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8489" y="5868636"/>
            <a:ext cx="11787469" cy="6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045" indent="-423022" lvl="1">
              <a:lnSpc>
                <a:spcPts val="5486"/>
              </a:lnSpc>
              <a:buAutoNum type="arabicPeriod" startAt="1"/>
            </a:pPr>
            <a:r>
              <a:rPr lang="en-US" b="true" sz="3918" spc="2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Isolation Forest for outlier detection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32708" y="7282237"/>
            <a:ext cx="633443" cy="6334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28489" y="6875508"/>
            <a:ext cx="10726027" cy="137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4890" indent="-427445" lvl="1">
              <a:lnSpc>
                <a:spcPts val="5543"/>
              </a:lnSpc>
              <a:buAutoNum type="arabicPeriod" startAt="1"/>
            </a:pPr>
            <a:r>
              <a:rPr lang="en-US" b="true" sz="3959" spc="25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KMeans clustering (K selection by elbow &amp; silhouette)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2708" y="8654109"/>
            <a:ext cx="604191" cy="6041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28489" y="8574414"/>
            <a:ext cx="13025321" cy="63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5413" indent="-407706" lvl="1">
              <a:lnSpc>
                <a:spcPts val="5287"/>
              </a:lnSpc>
              <a:buAutoNum type="arabicPeriod" startAt="1"/>
            </a:pPr>
            <a:r>
              <a:rPr lang="en-US" b="true" sz="3776" spc="24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Discretization + Apriori + association rules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9101696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OUTLIER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6399" y="4382990"/>
            <a:ext cx="7754449" cy="427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5315" indent="-262658" lvl="1">
              <a:lnSpc>
                <a:spcPts val="3406"/>
              </a:lnSpc>
              <a:buFont typeface="Arial"/>
              <a:buChar char="•"/>
            </a:pPr>
            <a:r>
              <a:rPr lang="en-US" b="true" sz="2433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Algorithm: Isolation Forest (n_estimators=100, contamination=0.02, seed=42)</a:t>
            </a:r>
          </a:p>
          <a:p>
            <a:pPr algn="just" marL="525315" indent="-262658" lvl="1">
              <a:lnSpc>
                <a:spcPts val="3406"/>
              </a:lnSpc>
              <a:buFont typeface="Arial"/>
              <a:buChar char="•"/>
            </a:pPr>
            <a:r>
              <a:rPr lang="en-US" b="true" sz="2433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Labeling: 1 = inlier, -1 = outlier</a:t>
            </a:r>
          </a:p>
          <a:p>
            <a:pPr algn="just" marL="525315" indent="-262658" lvl="1">
              <a:lnSpc>
                <a:spcPts val="3406"/>
              </a:lnSpc>
              <a:buFont typeface="Arial"/>
              <a:buChar char="•"/>
            </a:pPr>
            <a:r>
              <a:rPr lang="en-US" b="true" sz="2433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Remove outliers → data_clean for clustering &amp; rules</a:t>
            </a:r>
          </a:p>
          <a:p>
            <a:pPr algn="just">
              <a:lnSpc>
                <a:spcPts val="3406"/>
              </a:lnSpc>
            </a:pPr>
            <a:r>
              <a:rPr lang="en-US" b="true" sz="2433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Figures:</a:t>
            </a:r>
          </a:p>
          <a:p>
            <a:pPr algn="just" marL="525315" indent="-262658" lvl="1">
              <a:lnSpc>
                <a:spcPts val="3406"/>
              </a:lnSpc>
              <a:buFont typeface="Arial"/>
              <a:buChar char="•"/>
            </a:pPr>
            <a:r>
              <a:rPr lang="en-US" b="true" sz="2433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anomaly_score_hist.png</a:t>
            </a:r>
          </a:p>
          <a:p>
            <a:pPr algn="just" marL="525315" indent="-262658" lvl="1">
              <a:lnSpc>
                <a:spcPts val="3406"/>
              </a:lnSpc>
              <a:buFont typeface="Arial"/>
              <a:buChar char="•"/>
            </a:pPr>
            <a:r>
              <a:rPr lang="en-US" b="true" sz="2433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anomalies_pca2d.png</a:t>
            </a:r>
          </a:p>
          <a:p>
            <a:pPr algn="just">
              <a:lnSpc>
                <a:spcPts val="340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4430615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2779311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OUTLIER DETECTION: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9901504" cy="326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Outliers identified: ~2% (exact:  of )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PCA 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shows outliers concentrated in low-density regions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Impact: improves stability of KMeans and clarity of rule patterns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4430615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7057352" cy="286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CLUSTERING: MODEL SELECTION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9901504" cy="49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 ∈ {2 … 9}; evaluated inertia (elbow)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and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silhouette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Chosen K: &lt;insert K from plots; default 2&gt;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Silhouette score (chosen K): 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Figures: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kmeans_elbow.png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kmeans_silhouette.png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4430615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7057352" cy="286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CLUSTERING: INTERPRETATION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9901504" cy="599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2D PCA projection shows visually separable clusters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Separation also visible in original space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(fAlpha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vs fDist)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vs Class: &lt;insert crosstab highlights; e.g., Cluster 0 enriched for gamma&gt;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Figures: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ers_pca2d.png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ers_fAlpha_fDist.png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4430615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7057352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ASSOCIATION MINING: SETUP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9901504" cy="435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Discretize each feature into low/medium/high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(quant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ile bins)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One-hot encode to transactions (pd.get_dummies)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Apriori: min_support=0.05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Rules: metric="confidence", min_threshold=0.6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4430615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7057352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ASSOCIATION MINING: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15581033" cy="545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itemsets: frequent combinations across discretized features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Rules tow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ard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class: highlight → class_gamma and → class_hadron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Strong rules have high confidence and lift &gt; 1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Figures: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top10_ite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msets.png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rules_support_vs_confidence.png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es_confidence_hist.png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rules_lift_hist.png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association_network.png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3647322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7057352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KEY TAKEAWAYS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8381037" cy="545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Anomalies: ~2% removed; improves downstream structure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uste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ring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Chosen K = ; silhouette = ; clear separation in PCA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Rules: Interpretable patterns linking feature bins 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cla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ss; network g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raph 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highlights strongest links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3647322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80848" y="6923469"/>
            <a:ext cx="7516766" cy="751676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0629" y="4430615"/>
            <a:ext cx="389240" cy="38924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0629" y="2564442"/>
            <a:ext cx="17057352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LIMITATIONS &amp; NEXT STEPS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8267" y="4373465"/>
            <a:ext cx="8381037" cy="545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Quantile binning may hide numeric nuance → t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ry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adaptive binning / FP-Growth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Consider non-linear embeddings (UMAP) and density clus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teri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 (DBSCAN/HDBSCAN)</a:t>
            </a:r>
          </a:p>
          <a:p>
            <a:pPr algn="just" marL="670765" indent="-335383" lvl="1">
              <a:lnSpc>
                <a:spcPts val="4349"/>
              </a:lnSpc>
              <a:buFont typeface="Arial"/>
              <a:buChar char="•"/>
            </a:pP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</a:t>
            </a:r>
            <a:r>
              <a:rPr lang="en-US" b="true" sz="3106" spc="19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 outlier detectors (LOF, One-Class SVM) and calibrate thresholds</a:t>
            </a:r>
          </a:p>
          <a:p>
            <a:pPr algn="just">
              <a:lnSpc>
                <a:spcPts val="43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902858" y="3647322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22949" y="892578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08229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9264" y="1107281"/>
            <a:ext cx="927891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0299" y="1107281"/>
            <a:ext cx="1149472" cy="33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57305" y="3622067"/>
            <a:ext cx="9001995" cy="143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 METRIC DEFINITIONS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69264" y="6519652"/>
            <a:ext cx="8709792" cy="263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8316" indent="-269158" lvl="1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493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Supp</a:t>
            </a: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ort: frequency of an itemset in the dataset</a:t>
            </a:r>
          </a:p>
          <a:p>
            <a:pPr algn="l" marL="538316" indent="-269158" lvl="1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Confidence: P(consequent | antecedent)</a:t>
            </a:r>
          </a:p>
          <a:p>
            <a:pPr algn="l" marL="538316" indent="-269158" lvl="1">
              <a:lnSpc>
                <a:spcPts val="4238"/>
              </a:lnSpc>
              <a:spcBef>
                <a:spcPct val="0"/>
              </a:spcBef>
              <a:buFont typeface="Arial"/>
              <a:buChar char="•"/>
            </a:pPr>
            <a:r>
              <a:rPr lang="en-US" sz="2493" strike="noStrike" u="none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Lift: confidence / baseline(consequent); &gt;1 indicates positive association</a:t>
            </a:r>
          </a:p>
          <a:p>
            <a:pPr algn="l" marL="0" indent="0" lvl="0">
              <a:lnSpc>
                <a:spcPts val="4238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77485" y="2094936"/>
            <a:ext cx="7756903" cy="7814579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257305" y="5409574"/>
            <a:ext cx="1793661" cy="87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1"/>
              </a:lnSpc>
            </a:pPr>
            <a:r>
              <a:rPr lang="en-US" sz="5667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90%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724263" y="1135856"/>
            <a:ext cx="997371" cy="99737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57611" y="-1286368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85863" y="3538238"/>
            <a:ext cx="14516274" cy="391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6"/>
              </a:lnSpc>
            </a:pPr>
            <a:r>
              <a:rPr lang="en-US" sz="25721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3479" y="690861"/>
            <a:ext cx="1191540" cy="11915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241813" y="8802151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41813" y="8440825"/>
            <a:ext cx="1191540" cy="11915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8916" y="9058516"/>
            <a:ext cx="399568" cy="39956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02137" y="1525959"/>
            <a:ext cx="712885" cy="71288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DAG7-reSBmI</dc:identifier>
  <dcterms:modified xsi:type="dcterms:W3CDTF">2011-08-01T06:04:30Z</dcterms:modified>
  <cp:revision>1</cp:revision>
  <dc:title>Data Mining &amp; Analytics Presentation</dc:title>
</cp:coreProperties>
</file>
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DM Serif Display" charset="1" panose="00000000000000000000"/>
      <p:regular r:id="rId19"/>
    </p:embeddedFont>
    <p:embeddedFont>
      <p:font typeface="29LT Zarid Serif Italics" charset="1" panose="00000500000000000000"/>
      <p:regular r:id="rId20"/>
    </p:embeddedFont>
    <p:embeddedFont>
      <p:font typeface="29LT Zarid Serif" charset="1" panose="00000500000000000000"/>
      <p:regular r:id="rId21"/>
    </p:embeddedFont>
    <p:embeddedFont>
      <p:font typeface="29LT Zarid Serif Bold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12121">
                <a:alpha val="100000"/>
              </a:srgbClr>
            </a:gs>
            <a:gs pos="100000">
              <a:srgbClr val="4CACE1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700000">
            <a:off x="-337830" y="-973488"/>
            <a:ext cx="3121340" cy="3086100"/>
            <a:chOff x="0" y="0"/>
            <a:chExt cx="822081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189FD7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950481" y="781050"/>
            <a:ext cx="12387037" cy="4527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sz="12999">
                <a:solidFill>
                  <a:srgbClr val="FCFCFC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MAGIC GAMMA TELESCOPE</a:t>
            </a:r>
          </a:p>
        </p:txBody>
      </p:sp>
      <p:grpSp>
        <p:nvGrpSpPr>
          <p:cNvPr name="Group 6" id="6"/>
          <p:cNvGrpSpPr/>
          <p:nvPr/>
        </p:nvGrpSpPr>
        <p:grpSpPr>
          <a:xfrm rot="2700000">
            <a:off x="-3249920" y="698940"/>
            <a:ext cx="3121340" cy="3086100"/>
            <a:chOff x="0" y="0"/>
            <a:chExt cx="822081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E5E5E5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-499481" y="2877766"/>
            <a:ext cx="2286000" cy="2286000"/>
            <a:chOff x="0" y="0"/>
            <a:chExt cx="602074" cy="6020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189FD7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2700000">
            <a:off x="-1536606" y="5347587"/>
            <a:ext cx="2286000" cy="2286000"/>
            <a:chOff x="0" y="0"/>
            <a:chExt cx="602074" cy="60207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FCFCFC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2700000">
            <a:off x="14600277" y="7527554"/>
            <a:ext cx="2286000" cy="2286000"/>
            <a:chOff x="0" y="0"/>
            <a:chExt cx="602074" cy="6020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2700000">
            <a:off x="17145000" y="6498854"/>
            <a:ext cx="2286000" cy="2286000"/>
            <a:chOff x="0" y="0"/>
            <a:chExt cx="602074" cy="60207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FCFCFC"/>
            </a:solidFill>
            <a:ln w="4762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2700000">
            <a:off x="14837000" y="3429000"/>
            <a:ext cx="3429000" cy="3429000"/>
            <a:chOff x="0" y="0"/>
            <a:chExt cx="903111" cy="90311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03111" cy="903111"/>
            </a:xfrm>
            <a:custGeom>
              <a:avLst/>
              <a:gdLst/>
              <a:ahLst/>
              <a:cxnLst/>
              <a:rect r="r" b="b" t="t" l="l"/>
              <a:pathLst>
                <a:path h="903111" w="903111">
                  <a:moveTo>
                    <a:pt x="0" y="0"/>
                  </a:moveTo>
                  <a:lnTo>
                    <a:pt x="903111" y="0"/>
                  </a:lnTo>
                  <a:lnTo>
                    <a:pt x="903111" y="903111"/>
                  </a:lnTo>
                  <a:lnTo>
                    <a:pt x="0" y="903111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100000"/>
                  </a:srgbClr>
                </a:gs>
                <a:gs pos="100000">
                  <a:srgbClr val="4CACE1">
                    <a:alpha val="100000"/>
                  </a:srgbClr>
                </a:gs>
              </a:gsLst>
              <a:lin ang="0"/>
            </a:gradFill>
            <a:ln w="190500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903111" cy="941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2700000">
            <a:off x="12566161" y="9594845"/>
            <a:ext cx="3121340" cy="3086100"/>
            <a:chOff x="0" y="0"/>
            <a:chExt cx="822081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2700000">
            <a:off x="15955364" y="9594845"/>
            <a:ext cx="3121340" cy="3086100"/>
            <a:chOff x="0" y="0"/>
            <a:chExt cx="822081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2700000">
            <a:off x="18047051" y="671570"/>
            <a:ext cx="4572000" cy="4572000"/>
            <a:chOff x="0" y="0"/>
            <a:chExt cx="1204148" cy="120414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04148" cy="1204148"/>
            </a:xfrm>
            <a:custGeom>
              <a:avLst/>
              <a:gdLst/>
              <a:ahLst/>
              <a:cxnLst/>
              <a:rect r="r" b="b" t="t" l="l"/>
              <a:pathLst>
                <a:path h="1204148" w="1204148">
                  <a:moveTo>
                    <a:pt x="0" y="0"/>
                  </a:moveTo>
                  <a:lnTo>
                    <a:pt x="1204148" y="0"/>
                  </a:lnTo>
                  <a:lnTo>
                    <a:pt x="1204148" y="1204148"/>
                  </a:lnTo>
                  <a:lnTo>
                    <a:pt x="0" y="1204148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100000"/>
                  </a:srgbClr>
                </a:gs>
                <a:gs pos="100000">
                  <a:srgbClr val="4CACE1">
                    <a:alpha val="100000"/>
                  </a:srgbClr>
                </a:gs>
              </a:gsLst>
              <a:lin ang="0"/>
            </a:gradFill>
            <a:ln w="1905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204148" cy="12422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5999313" y="5438676"/>
            <a:ext cx="6289374" cy="1744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7"/>
              </a:lnSpc>
            </a:pPr>
            <a:r>
              <a:rPr lang="en-US" sz="3334">
                <a:solidFill>
                  <a:srgbClr val="FCFCFC">
                    <a:alpha val="83922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Outlier Detection</a:t>
            </a:r>
          </a:p>
          <a:p>
            <a:pPr algn="ctr">
              <a:lnSpc>
                <a:spcPts val="4667"/>
              </a:lnSpc>
            </a:pPr>
            <a:r>
              <a:rPr lang="en-US" sz="3334">
                <a:solidFill>
                  <a:srgbClr val="FCFCFC">
                    <a:alpha val="83922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Clustering</a:t>
            </a:r>
          </a:p>
          <a:p>
            <a:pPr algn="ctr">
              <a:lnSpc>
                <a:spcPts val="4667"/>
              </a:lnSpc>
            </a:pPr>
            <a:r>
              <a:rPr lang="en-US" sz="3334">
                <a:solidFill>
                  <a:srgbClr val="FCFCFC">
                    <a:alpha val="83922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Association Rule Mining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73728" y="7779182"/>
            <a:ext cx="3343773" cy="2328102"/>
          </a:xfrm>
          <a:custGeom>
            <a:avLst/>
            <a:gdLst/>
            <a:ahLst/>
            <a:cxnLst/>
            <a:rect r="r" b="b" t="t" l="l"/>
            <a:pathLst>
              <a:path h="2328102" w="3343773">
                <a:moveTo>
                  <a:pt x="0" y="0"/>
                </a:moveTo>
                <a:lnTo>
                  <a:pt x="3343773" y="0"/>
                </a:lnTo>
                <a:lnTo>
                  <a:pt x="3343773" y="2328103"/>
                </a:lnTo>
                <a:lnTo>
                  <a:pt x="0" y="23281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3543818" y="8165251"/>
            <a:ext cx="5294847" cy="1942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6"/>
              </a:lnSpc>
            </a:pPr>
            <a:r>
              <a:rPr lang="en-US" sz="3533" i="true">
                <a:solidFill>
                  <a:srgbClr val="FCFCFC"/>
                </a:solidFill>
                <a:latin typeface="29LT Zarid Serif Italics"/>
                <a:ea typeface="29LT Zarid Serif Italics"/>
                <a:cs typeface="29LT Zarid Serif Italics"/>
                <a:sym typeface="29LT Zarid Serif Italics"/>
              </a:rPr>
              <a:t>Ziad Waleed Waheed</a:t>
            </a:r>
          </a:p>
          <a:p>
            <a:pPr algn="l">
              <a:lnSpc>
                <a:spcPts val="4946"/>
              </a:lnSpc>
            </a:pPr>
            <a:r>
              <a:rPr lang="en-US" sz="3533" i="true">
                <a:solidFill>
                  <a:srgbClr val="FCFCFC"/>
                </a:solidFill>
                <a:latin typeface="29LT Zarid Serif Italics"/>
                <a:ea typeface="29LT Zarid Serif Italics"/>
                <a:cs typeface="29LT Zarid Serif Italics"/>
                <a:sym typeface="29LT Zarid Serif Italics"/>
              </a:rPr>
              <a:t>Ziad Alaa Osman</a:t>
            </a:r>
          </a:p>
          <a:p>
            <a:pPr algn="l">
              <a:lnSpc>
                <a:spcPts val="4946"/>
              </a:lnSpc>
            </a:pPr>
            <a:r>
              <a:rPr lang="en-US" sz="3533" i="true">
                <a:solidFill>
                  <a:srgbClr val="FCFCFC"/>
                </a:solidFill>
                <a:latin typeface="29LT Zarid Serif Italics"/>
                <a:ea typeface="29LT Zarid Serif Italics"/>
                <a:cs typeface="29LT Zarid Serif Italics"/>
                <a:sym typeface="29LT Zarid Serif Italics"/>
              </a:rPr>
              <a:t>Ramez Fawzy Ragheb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397104" y="8241451"/>
            <a:ext cx="5294847" cy="184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6"/>
              </a:lnSpc>
            </a:pPr>
            <a:r>
              <a:rPr lang="en-US" sz="3533">
                <a:solidFill>
                  <a:srgbClr val="FCFCFC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202200703</a:t>
            </a:r>
          </a:p>
          <a:p>
            <a:pPr algn="l">
              <a:lnSpc>
                <a:spcPts val="4946"/>
              </a:lnSpc>
            </a:pPr>
            <a:r>
              <a:rPr lang="en-US" sz="3533">
                <a:solidFill>
                  <a:srgbClr val="FCFCFC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202203011</a:t>
            </a:r>
          </a:p>
          <a:p>
            <a:pPr algn="l">
              <a:lnSpc>
                <a:spcPts val="4946"/>
              </a:lnSpc>
            </a:pPr>
            <a:r>
              <a:rPr lang="en-US" sz="3533">
                <a:solidFill>
                  <a:srgbClr val="FCFCFC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202203946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58527" y="3825466"/>
            <a:ext cx="12053517" cy="513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700"/>
              </a:lnSpc>
            </a:pP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What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 is Data Mining?</a:t>
            </a:r>
          </a:p>
          <a:p>
            <a:pPr algn="just" marL="820421" indent="-410210" lvl="1">
              <a:lnSpc>
                <a:spcPts val="570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Discovery of patterns and insights from large datasets.</a:t>
            </a:r>
          </a:p>
          <a:p>
            <a:pPr algn="just" marL="820421" indent="-410210" lvl="1">
              <a:lnSpc>
                <a:spcPts val="570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Applications: business, healthcare, astronomy, etc.</a:t>
            </a:r>
          </a:p>
          <a:p>
            <a:pPr algn="just">
              <a:lnSpc>
                <a:spcPts val="5700"/>
              </a:lnSpc>
            </a:pP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Why Data Mining for the MAGIC Dataset?</a:t>
            </a:r>
          </a:p>
          <a:p>
            <a:pPr algn="just" marL="820421" indent="-410210" lvl="1">
              <a:lnSpc>
                <a:spcPts val="570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To classify Gamma (signal) vs Hadron (background) events in the dataset.</a:t>
            </a:r>
          </a:p>
          <a:p>
            <a:pPr algn="just">
              <a:lnSpc>
                <a:spcPts val="570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480029" y="1764520"/>
            <a:ext cx="15327943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INTRODUCTION TO D</a:t>
            </a:r>
            <a:r>
              <a:rPr lang="en-US" sz="69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ATA MINING</a:t>
            </a:r>
          </a:p>
        </p:txBody>
      </p:sp>
      <p:grpSp>
        <p:nvGrpSpPr>
          <p:cNvPr name="Group 4" id="4"/>
          <p:cNvGrpSpPr/>
          <p:nvPr/>
        </p:nvGrpSpPr>
        <p:grpSpPr>
          <a:xfrm rot="-2700000">
            <a:off x="-1151682" y="3171554"/>
            <a:ext cx="3544221" cy="11737167"/>
            <a:chOff x="0" y="0"/>
            <a:chExt cx="933457" cy="30912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3457" cy="3091270"/>
            </a:xfrm>
            <a:custGeom>
              <a:avLst/>
              <a:gdLst/>
              <a:ahLst/>
              <a:cxnLst/>
              <a:rect r="r" b="b" t="t" l="l"/>
              <a:pathLst>
                <a:path h="3091270" w="933457">
                  <a:moveTo>
                    <a:pt x="0" y="0"/>
                  </a:moveTo>
                  <a:lnTo>
                    <a:pt x="933457" y="0"/>
                  </a:lnTo>
                  <a:lnTo>
                    <a:pt x="933457" y="3091270"/>
                  </a:lnTo>
                  <a:lnTo>
                    <a:pt x="0" y="3091270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25000"/>
                  </a:srgbClr>
                </a:gs>
                <a:gs pos="100000">
                  <a:srgbClr val="4CACE1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33457" cy="3129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2700000">
            <a:off x="-310565" y="-959239"/>
            <a:ext cx="3121340" cy="3086100"/>
            <a:chOff x="0" y="0"/>
            <a:chExt cx="822081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700000">
            <a:off x="-3222655" y="713190"/>
            <a:ext cx="3121340" cy="3086100"/>
            <a:chOff x="0" y="0"/>
            <a:chExt cx="822081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2700000">
            <a:off x="-472216" y="2892016"/>
            <a:ext cx="2286000" cy="2286000"/>
            <a:chOff x="0" y="0"/>
            <a:chExt cx="602074" cy="6020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2700000">
            <a:off x="-1509341" y="5361837"/>
            <a:ext cx="2286000" cy="2286000"/>
            <a:chOff x="0" y="0"/>
            <a:chExt cx="602074" cy="6020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2700000">
            <a:off x="110435" y="-1366875"/>
            <a:ext cx="2762250" cy="2762250"/>
            <a:chOff x="0" y="0"/>
            <a:chExt cx="727506" cy="72750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7506" cy="727506"/>
            </a:xfrm>
            <a:custGeom>
              <a:avLst/>
              <a:gdLst/>
              <a:ahLst/>
              <a:cxnLst/>
              <a:rect r="r" b="b" t="t" l="l"/>
              <a:pathLst>
                <a:path h="727506" w="727506">
                  <a:moveTo>
                    <a:pt x="0" y="0"/>
                  </a:moveTo>
                  <a:lnTo>
                    <a:pt x="727506" y="0"/>
                  </a:lnTo>
                  <a:lnTo>
                    <a:pt x="727506" y="727506"/>
                  </a:lnTo>
                  <a:lnTo>
                    <a:pt x="0" y="727506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100000"/>
                  </a:srgbClr>
                </a:gs>
                <a:gs pos="100000">
                  <a:srgbClr val="4CACE1">
                    <a:alpha val="100000"/>
                  </a:srgbClr>
                </a:gs>
              </a:gsLst>
              <a:lin ang="0"/>
            </a:gra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27506" cy="765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8100000">
            <a:off x="15895461" y="-4621721"/>
            <a:ext cx="3544221" cy="11737167"/>
            <a:chOff x="0" y="0"/>
            <a:chExt cx="933457" cy="30912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33457" cy="3091270"/>
            </a:xfrm>
            <a:custGeom>
              <a:avLst/>
              <a:gdLst/>
              <a:ahLst/>
              <a:cxnLst/>
              <a:rect r="r" b="b" t="t" l="l"/>
              <a:pathLst>
                <a:path h="3091270" w="933457">
                  <a:moveTo>
                    <a:pt x="0" y="0"/>
                  </a:moveTo>
                  <a:lnTo>
                    <a:pt x="933457" y="0"/>
                  </a:lnTo>
                  <a:lnTo>
                    <a:pt x="933457" y="3091270"/>
                  </a:lnTo>
                  <a:lnTo>
                    <a:pt x="0" y="3091270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25000"/>
                  </a:srgbClr>
                </a:gs>
                <a:gs pos="100000">
                  <a:srgbClr val="4CACE1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33457" cy="3129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-8100000">
            <a:off x="15477225" y="8160139"/>
            <a:ext cx="3121340" cy="3086100"/>
            <a:chOff x="0" y="0"/>
            <a:chExt cx="822081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8100000">
            <a:off x="18389315" y="6487710"/>
            <a:ext cx="3121340" cy="3086100"/>
            <a:chOff x="0" y="0"/>
            <a:chExt cx="822081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8100000">
            <a:off x="16474216" y="5108984"/>
            <a:ext cx="2286000" cy="2286000"/>
            <a:chOff x="0" y="0"/>
            <a:chExt cx="602074" cy="60207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-8100000">
            <a:off x="17511341" y="2639163"/>
            <a:ext cx="2286000" cy="2286000"/>
            <a:chOff x="0" y="0"/>
            <a:chExt cx="602074" cy="60207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-8100000">
            <a:off x="15415315" y="8891625"/>
            <a:ext cx="2762250" cy="2762250"/>
            <a:chOff x="0" y="0"/>
            <a:chExt cx="727506" cy="72750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27506" cy="727506"/>
            </a:xfrm>
            <a:custGeom>
              <a:avLst/>
              <a:gdLst/>
              <a:ahLst/>
              <a:cxnLst/>
              <a:rect r="r" b="b" t="t" l="l"/>
              <a:pathLst>
                <a:path h="727506" w="727506">
                  <a:moveTo>
                    <a:pt x="0" y="0"/>
                  </a:moveTo>
                  <a:lnTo>
                    <a:pt x="727506" y="0"/>
                  </a:lnTo>
                  <a:lnTo>
                    <a:pt x="727506" y="727506"/>
                  </a:lnTo>
                  <a:lnTo>
                    <a:pt x="0" y="727506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100000"/>
                  </a:srgbClr>
                </a:gs>
                <a:gs pos="100000">
                  <a:srgbClr val="4CACE1">
                    <a:alpha val="100000"/>
                  </a:srgbClr>
                </a:gs>
              </a:gsLst>
              <a:lin ang="0"/>
            </a:gra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727506" cy="765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5411" y="1071965"/>
            <a:ext cx="8537178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DATAS</a:t>
            </a:r>
            <a:r>
              <a:rPr lang="en-US" sz="69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ET 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03293" y="3757069"/>
            <a:ext cx="12883529" cy="513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1" indent="-410210" lvl="1">
              <a:lnSpc>
                <a:spcPts val="570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Datas</a:t>
            </a: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et Name: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 MAGIC Gamma Telescope</a:t>
            </a:r>
          </a:p>
          <a:p>
            <a:pPr algn="l" marL="820421" indent="-410210" lvl="1">
              <a:lnSpc>
                <a:spcPts val="570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Source: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 UCI Machine Learning Repository</a:t>
            </a:r>
          </a:p>
          <a:p>
            <a:pPr algn="l" marL="820421" indent="-410210" lvl="1">
              <a:lnSpc>
                <a:spcPts val="570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Objective: 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Classify events into Gamma (g) or Hadron (h).</a:t>
            </a:r>
          </a:p>
          <a:p>
            <a:pPr algn="l" marL="820421" indent="-410210" lvl="1">
              <a:lnSpc>
                <a:spcPts val="570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Features: 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10 numerical features:</a:t>
            </a:r>
          </a:p>
          <a:p>
            <a:pPr algn="l" marL="1640841" indent="-546947" lvl="2">
              <a:lnSpc>
                <a:spcPts val="5700"/>
              </a:lnSpc>
              <a:buFont typeface="Arial"/>
              <a:buChar char="⚬"/>
            </a:pP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fLength, fWidth, fSize, fConc, fConc1, fAsym, fM3Long, fM3Trans, fAlpha, fDist</a:t>
            </a:r>
          </a:p>
          <a:p>
            <a:pPr algn="l" marL="820421" indent="-410210" lvl="1">
              <a:lnSpc>
                <a:spcPts val="570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Target: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 class (g → Gamma, h → Hadron)</a:t>
            </a:r>
          </a:p>
        </p:txBody>
      </p:sp>
      <p:grpSp>
        <p:nvGrpSpPr>
          <p:cNvPr name="Group 4" id="4"/>
          <p:cNvGrpSpPr/>
          <p:nvPr/>
        </p:nvGrpSpPr>
        <p:grpSpPr>
          <a:xfrm rot="-2700000">
            <a:off x="-1151682" y="3171554"/>
            <a:ext cx="3544221" cy="11737167"/>
            <a:chOff x="0" y="0"/>
            <a:chExt cx="933457" cy="30912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3457" cy="3091270"/>
            </a:xfrm>
            <a:custGeom>
              <a:avLst/>
              <a:gdLst/>
              <a:ahLst/>
              <a:cxnLst/>
              <a:rect r="r" b="b" t="t" l="l"/>
              <a:pathLst>
                <a:path h="3091270" w="933457">
                  <a:moveTo>
                    <a:pt x="0" y="0"/>
                  </a:moveTo>
                  <a:lnTo>
                    <a:pt x="933457" y="0"/>
                  </a:lnTo>
                  <a:lnTo>
                    <a:pt x="933457" y="3091270"/>
                  </a:lnTo>
                  <a:lnTo>
                    <a:pt x="0" y="3091270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25000"/>
                  </a:srgbClr>
                </a:gs>
                <a:gs pos="100000">
                  <a:srgbClr val="4CACE1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33457" cy="3129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2700000">
            <a:off x="-310565" y="-959239"/>
            <a:ext cx="3121340" cy="3086100"/>
            <a:chOff x="0" y="0"/>
            <a:chExt cx="822081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700000">
            <a:off x="-3222655" y="713190"/>
            <a:ext cx="3121340" cy="3086100"/>
            <a:chOff x="0" y="0"/>
            <a:chExt cx="822081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2700000">
            <a:off x="-462691" y="2892016"/>
            <a:ext cx="2286000" cy="2286000"/>
            <a:chOff x="0" y="0"/>
            <a:chExt cx="602074" cy="6020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2700000">
            <a:off x="-1509341" y="5361837"/>
            <a:ext cx="2286000" cy="2286000"/>
            <a:chOff x="0" y="0"/>
            <a:chExt cx="602074" cy="6020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2700000">
            <a:off x="110435" y="-1366875"/>
            <a:ext cx="2762250" cy="2762250"/>
            <a:chOff x="0" y="0"/>
            <a:chExt cx="727506" cy="72750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7506" cy="727506"/>
            </a:xfrm>
            <a:custGeom>
              <a:avLst/>
              <a:gdLst/>
              <a:ahLst/>
              <a:cxnLst/>
              <a:rect r="r" b="b" t="t" l="l"/>
              <a:pathLst>
                <a:path h="727506" w="727506">
                  <a:moveTo>
                    <a:pt x="0" y="0"/>
                  </a:moveTo>
                  <a:lnTo>
                    <a:pt x="727506" y="0"/>
                  </a:lnTo>
                  <a:lnTo>
                    <a:pt x="727506" y="727506"/>
                  </a:lnTo>
                  <a:lnTo>
                    <a:pt x="0" y="727506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100000"/>
                  </a:srgbClr>
                </a:gs>
                <a:gs pos="100000">
                  <a:srgbClr val="4CACE1">
                    <a:alpha val="100000"/>
                  </a:srgbClr>
                </a:gs>
              </a:gsLst>
              <a:lin ang="0"/>
            </a:gra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27506" cy="765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8100000">
            <a:off x="15895461" y="-4621721"/>
            <a:ext cx="3544221" cy="11737167"/>
            <a:chOff x="0" y="0"/>
            <a:chExt cx="933457" cy="30912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33457" cy="3091270"/>
            </a:xfrm>
            <a:custGeom>
              <a:avLst/>
              <a:gdLst/>
              <a:ahLst/>
              <a:cxnLst/>
              <a:rect r="r" b="b" t="t" l="l"/>
              <a:pathLst>
                <a:path h="3091270" w="933457">
                  <a:moveTo>
                    <a:pt x="0" y="0"/>
                  </a:moveTo>
                  <a:lnTo>
                    <a:pt x="933457" y="0"/>
                  </a:lnTo>
                  <a:lnTo>
                    <a:pt x="933457" y="3091270"/>
                  </a:lnTo>
                  <a:lnTo>
                    <a:pt x="0" y="3091270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25000"/>
                  </a:srgbClr>
                </a:gs>
                <a:gs pos="100000">
                  <a:srgbClr val="4CACE1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33457" cy="3129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-8100000">
            <a:off x="15477225" y="8160139"/>
            <a:ext cx="3121340" cy="3086100"/>
            <a:chOff x="0" y="0"/>
            <a:chExt cx="822081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8100000">
            <a:off x="18389315" y="6487710"/>
            <a:ext cx="3121340" cy="3086100"/>
            <a:chOff x="0" y="0"/>
            <a:chExt cx="822081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8100000">
            <a:off x="16474216" y="5108984"/>
            <a:ext cx="2286000" cy="2286000"/>
            <a:chOff x="0" y="0"/>
            <a:chExt cx="602074" cy="60207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-8100000">
            <a:off x="17511341" y="2639163"/>
            <a:ext cx="2286000" cy="2286000"/>
            <a:chOff x="0" y="0"/>
            <a:chExt cx="602074" cy="60207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-8100000">
            <a:off x="15415315" y="8891625"/>
            <a:ext cx="2762250" cy="2762250"/>
            <a:chOff x="0" y="0"/>
            <a:chExt cx="727506" cy="72750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27506" cy="727506"/>
            </a:xfrm>
            <a:custGeom>
              <a:avLst/>
              <a:gdLst/>
              <a:ahLst/>
              <a:cxnLst/>
              <a:rect r="r" b="b" t="t" l="l"/>
              <a:pathLst>
                <a:path h="727506" w="727506">
                  <a:moveTo>
                    <a:pt x="0" y="0"/>
                  </a:moveTo>
                  <a:lnTo>
                    <a:pt x="727506" y="0"/>
                  </a:lnTo>
                  <a:lnTo>
                    <a:pt x="727506" y="727506"/>
                  </a:lnTo>
                  <a:lnTo>
                    <a:pt x="0" y="727506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100000"/>
                  </a:srgbClr>
                </a:gs>
                <a:gs pos="100000">
                  <a:srgbClr val="4CACE1">
                    <a:alpha val="100000"/>
                  </a:srgbClr>
                </a:gs>
              </a:gsLst>
              <a:lin ang="0"/>
            </a:gra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727506" cy="765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75411" y="1123037"/>
            <a:ext cx="8537178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DATA PREPARATION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80191" y="3663694"/>
            <a:ext cx="12053517" cy="4045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1" indent="-410210" lvl="1">
              <a:lnSpc>
                <a:spcPts val="6308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St</a:t>
            </a: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ep 1: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 Load the dataset and assign column names.</a:t>
            </a:r>
          </a:p>
          <a:p>
            <a:pPr algn="l" marL="820421" indent="-410210" lvl="1">
              <a:lnSpc>
                <a:spcPts val="6308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Step 2: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 Check for missing values and duplicates.</a:t>
            </a:r>
          </a:p>
          <a:p>
            <a:pPr algn="l" marL="820421" indent="-410210" lvl="1">
              <a:lnSpc>
                <a:spcPts val="6308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Step 3: 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Check class distribution (Gamma vs Hadron).</a:t>
            </a:r>
          </a:p>
          <a:p>
            <a:pPr algn="l" marL="820421" indent="-410210" lvl="1">
              <a:lnSpc>
                <a:spcPts val="6308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Step 4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: Split features and target, standardize features using StandardScaler.</a:t>
            </a:r>
          </a:p>
        </p:txBody>
      </p:sp>
      <p:grpSp>
        <p:nvGrpSpPr>
          <p:cNvPr name="Group 4" id="4"/>
          <p:cNvGrpSpPr/>
          <p:nvPr/>
        </p:nvGrpSpPr>
        <p:grpSpPr>
          <a:xfrm rot="-2700000">
            <a:off x="-1151682" y="3171554"/>
            <a:ext cx="3544221" cy="11737167"/>
            <a:chOff x="0" y="0"/>
            <a:chExt cx="933457" cy="30912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3457" cy="3091270"/>
            </a:xfrm>
            <a:custGeom>
              <a:avLst/>
              <a:gdLst/>
              <a:ahLst/>
              <a:cxnLst/>
              <a:rect r="r" b="b" t="t" l="l"/>
              <a:pathLst>
                <a:path h="3091270" w="933457">
                  <a:moveTo>
                    <a:pt x="0" y="0"/>
                  </a:moveTo>
                  <a:lnTo>
                    <a:pt x="933457" y="0"/>
                  </a:lnTo>
                  <a:lnTo>
                    <a:pt x="933457" y="3091270"/>
                  </a:lnTo>
                  <a:lnTo>
                    <a:pt x="0" y="3091270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25000"/>
                  </a:srgbClr>
                </a:gs>
                <a:gs pos="100000">
                  <a:srgbClr val="4CACE1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33457" cy="3129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2700000">
            <a:off x="-310565" y="-959239"/>
            <a:ext cx="3121340" cy="3086100"/>
            <a:chOff x="0" y="0"/>
            <a:chExt cx="822081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700000">
            <a:off x="-3222655" y="713190"/>
            <a:ext cx="3121340" cy="3086100"/>
            <a:chOff x="0" y="0"/>
            <a:chExt cx="822081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2700000">
            <a:off x="-472216" y="2892016"/>
            <a:ext cx="2286000" cy="2286000"/>
            <a:chOff x="0" y="0"/>
            <a:chExt cx="602074" cy="6020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2700000">
            <a:off x="-1509341" y="5361837"/>
            <a:ext cx="2286000" cy="2286000"/>
            <a:chOff x="0" y="0"/>
            <a:chExt cx="602074" cy="6020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2700000">
            <a:off x="110435" y="-1366875"/>
            <a:ext cx="2762250" cy="2762250"/>
            <a:chOff x="0" y="0"/>
            <a:chExt cx="727506" cy="72750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7506" cy="727506"/>
            </a:xfrm>
            <a:custGeom>
              <a:avLst/>
              <a:gdLst/>
              <a:ahLst/>
              <a:cxnLst/>
              <a:rect r="r" b="b" t="t" l="l"/>
              <a:pathLst>
                <a:path h="727506" w="727506">
                  <a:moveTo>
                    <a:pt x="0" y="0"/>
                  </a:moveTo>
                  <a:lnTo>
                    <a:pt x="727506" y="0"/>
                  </a:lnTo>
                  <a:lnTo>
                    <a:pt x="727506" y="727506"/>
                  </a:lnTo>
                  <a:lnTo>
                    <a:pt x="0" y="727506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100000"/>
                  </a:srgbClr>
                </a:gs>
                <a:gs pos="100000">
                  <a:srgbClr val="4CACE1">
                    <a:alpha val="100000"/>
                  </a:srgbClr>
                </a:gs>
              </a:gsLst>
              <a:lin ang="0"/>
            </a:gra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27506" cy="765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8100000">
            <a:off x="15895461" y="-4621721"/>
            <a:ext cx="3544221" cy="11737167"/>
            <a:chOff x="0" y="0"/>
            <a:chExt cx="933457" cy="30912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33457" cy="3091270"/>
            </a:xfrm>
            <a:custGeom>
              <a:avLst/>
              <a:gdLst/>
              <a:ahLst/>
              <a:cxnLst/>
              <a:rect r="r" b="b" t="t" l="l"/>
              <a:pathLst>
                <a:path h="3091270" w="933457">
                  <a:moveTo>
                    <a:pt x="0" y="0"/>
                  </a:moveTo>
                  <a:lnTo>
                    <a:pt x="933457" y="0"/>
                  </a:lnTo>
                  <a:lnTo>
                    <a:pt x="933457" y="3091270"/>
                  </a:lnTo>
                  <a:lnTo>
                    <a:pt x="0" y="3091270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25000"/>
                  </a:srgbClr>
                </a:gs>
                <a:gs pos="100000">
                  <a:srgbClr val="4CACE1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33457" cy="3129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-8100000">
            <a:off x="15477225" y="8160139"/>
            <a:ext cx="3121340" cy="3086100"/>
            <a:chOff x="0" y="0"/>
            <a:chExt cx="822081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8100000">
            <a:off x="18389315" y="6487710"/>
            <a:ext cx="3121340" cy="3086100"/>
            <a:chOff x="0" y="0"/>
            <a:chExt cx="822081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8100000">
            <a:off x="16474216" y="5108984"/>
            <a:ext cx="2286000" cy="2286000"/>
            <a:chOff x="0" y="0"/>
            <a:chExt cx="602074" cy="60207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-8100000">
            <a:off x="17511341" y="2639163"/>
            <a:ext cx="2286000" cy="2286000"/>
            <a:chOff x="0" y="0"/>
            <a:chExt cx="602074" cy="60207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-8100000">
            <a:off x="15415315" y="8891625"/>
            <a:ext cx="2762250" cy="2762250"/>
            <a:chOff x="0" y="0"/>
            <a:chExt cx="727506" cy="72750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27506" cy="727506"/>
            </a:xfrm>
            <a:custGeom>
              <a:avLst/>
              <a:gdLst/>
              <a:ahLst/>
              <a:cxnLst/>
              <a:rect r="r" b="b" t="t" l="l"/>
              <a:pathLst>
                <a:path h="727506" w="727506">
                  <a:moveTo>
                    <a:pt x="0" y="0"/>
                  </a:moveTo>
                  <a:lnTo>
                    <a:pt x="727506" y="0"/>
                  </a:lnTo>
                  <a:lnTo>
                    <a:pt x="727506" y="727506"/>
                  </a:lnTo>
                  <a:lnTo>
                    <a:pt x="0" y="727506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100000"/>
                  </a:srgbClr>
                </a:gs>
                <a:gs pos="100000">
                  <a:srgbClr val="4CACE1">
                    <a:alpha val="100000"/>
                  </a:srgbClr>
                </a:gs>
              </a:gsLst>
              <a:lin ang="0"/>
            </a:gra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727506" cy="765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81371" y="3465901"/>
            <a:ext cx="11959195" cy="6742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G</a:t>
            </a: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oal: 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Remove outliers that may distort the analysis.</a:t>
            </a:r>
          </a:p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Algorithm Used: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 Isolation Forest (from sklearn).</a:t>
            </a:r>
          </a:p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Parameters:</a:t>
            </a:r>
          </a:p>
          <a:p>
            <a:pPr algn="l" marL="1640841" indent="-546947" lvl="2">
              <a:lnSpc>
                <a:spcPts val="5320"/>
              </a:lnSpc>
              <a:buFont typeface="Arial"/>
              <a:buChar char="⚬"/>
            </a:pP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n_estimators = 100</a:t>
            </a:r>
          </a:p>
          <a:p>
            <a:pPr algn="l" marL="1640841" indent="-546947" lvl="2">
              <a:lnSpc>
                <a:spcPts val="5320"/>
              </a:lnSpc>
              <a:buFont typeface="Arial"/>
              <a:buChar char="⚬"/>
            </a:pP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contamination = 0.02 (2% outliers)</a:t>
            </a:r>
          </a:p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Labels:</a:t>
            </a:r>
          </a:p>
          <a:p>
            <a:pPr algn="l" marL="1640841" indent="-546947" lvl="2">
              <a:lnSpc>
                <a:spcPts val="5320"/>
              </a:lnSpc>
              <a:buFont typeface="Arial"/>
              <a:buChar char="⚬"/>
            </a:pP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1 → Inliers</a:t>
            </a:r>
          </a:p>
          <a:p>
            <a:pPr algn="l" marL="1640841" indent="-546947" lvl="2">
              <a:lnSpc>
                <a:spcPts val="5320"/>
              </a:lnSpc>
              <a:buFont typeface="Arial"/>
              <a:buChar char="⚬"/>
            </a:pP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-1 → Outliers</a:t>
            </a:r>
          </a:p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Result: 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Cleaned dataset used for further analysis.</a:t>
            </a:r>
          </a:p>
          <a:p>
            <a:pPr algn="l">
              <a:lnSpc>
                <a:spcPts val="5320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-2700000">
            <a:off x="-1151682" y="3171554"/>
            <a:ext cx="3544221" cy="11737167"/>
            <a:chOff x="0" y="0"/>
            <a:chExt cx="933457" cy="30912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33457" cy="3091270"/>
            </a:xfrm>
            <a:custGeom>
              <a:avLst/>
              <a:gdLst/>
              <a:ahLst/>
              <a:cxnLst/>
              <a:rect r="r" b="b" t="t" l="l"/>
              <a:pathLst>
                <a:path h="3091270" w="933457">
                  <a:moveTo>
                    <a:pt x="0" y="0"/>
                  </a:moveTo>
                  <a:lnTo>
                    <a:pt x="933457" y="0"/>
                  </a:lnTo>
                  <a:lnTo>
                    <a:pt x="933457" y="3091270"/>
                  </a:lnTo>
                  <a:lnTo>
                    <a:pt x="0" y="3091270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25000"/>
                  </a:srgbClr>
                </a:gs>
                <a:gs pos="100000">
                  <a:srgbClr val="4CACE1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33457" cy="3129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2700000">
            <a:off x="-310565" y="-959239"/>
            <a:ext cx="3121340" cy="3086100"/>
            <a:chOff x="0" y="0"/>
            <a:chExt cx="822081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-3222655" y="713190"/>
            <a:ext cx="3121340" cy="3086100"/>
            <a:chOff x="0" y="0"/>
            <a:chExt cx="822081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2700000">
            <a:off x="-472216" y="2892016"/>
            <a:ext cx="2286000" cy="2286000"/>
            <a:chOff x="0" y="0"/>
            <a:chExt cx="602074" cy="60207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2700000">
            <a:off x="-1509341" y="5361837"/>
            <a:ext cx="2286000" cy="2286000"/>
            <a:chOff x="0" y="0"/>
            <a:chExt cx="602074" cy="6020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2700000">
            <a:off x="110435" y="-1366875"/>
            <a:ext cx="2762250" cy="2762250"/>
            <a:chOff x="0" y="0"/>
            <a:chExt cx="727506" cy="72750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27506" cy="727506"/>
            </a:xfrm>
            <a:custGeom>
              <a:avLst/>
              <a:gdLst/>
              <a:ahLst/>
              <a:cxnLst/>
              <a:rect r="r" b="b" t="t" l="l"/>
              <a:pathLst>
                <a:path h="727506" w="727506">
                  <a:moveTo>
                    <a:pt x="0" y="0"/>
                  </a:moveTo>
                  <a:lnTo>
                    <a:pt x="727506" y="0"/>
                  </a:lnTo>
                  <a:lnTo>
                    <a:pt x="727506" y="727506"/>
                  </a:lnTo>
                  <a:lnTo>
                    <a:pt x="0" y="727506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100000"/>
                  </a:srgbClr>
                </a:gs>
                <a:gs pos="100000">
                  <a:srgbClr val="4CACE1">
                    <a:alpha val="100000"/>
                  </a:srgbClr>
                </a:gs>
              </a:gsLst>
              <a:lin ang="0"/>
            </a:gra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727506" cy="765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8100000">
            <a:off x="15895461" y="-4621721"/>
            <a:ext cx="3544221" cy="11737167"/>
            <a:chOff x="0" y="0"/>
            <a:chExt cx="933457" cy="30912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33457" cy="3091270"/>
            </a:xfrm>
            <a:custGeom>
              <a:avLst/>
              <a:gdLst/>
              <a:ahLst/>
              <a:cxnLst/>
              <a:rect r="r" b="b" t="t" l="l"/>
              <a:pathLst>
                <a:path h="3091270" w="933457">
                  <a:moveTo>
                    <a:pt x="0" y="0"/>
                  </a:moveTo>
                  <a:lnTo>
                    <a:pt x="933457" y="0"/>
                  </a:lnTo>
                  <a:lnTo>
                    <a:pt x="933457" y="3091270"/>
                  </a:lnTo>
                  <a:lnTo>
                    <a:pt x="0" y="3091270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25000"/>
                  </a:srgbClr>
                </a:gs>
                <a:gs pos="100000">
                  <a:srgbClr val="4CACE1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933457" cy="3129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8100000">
            <a:off x="15477225" y="8160139"/>
            <a:ext cx="3121340" cy="3086100"/>
            <a:chOff x="0" y="0"/>
            <a:chExt cx="822081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8100000">
            <a:off x="18389315" y="6487710"/>
            <a:ext cx="3121340" cy="3086100"/>
            <a:chOff x="0" y="0"/>
            <a:chExt cx="822081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-8100000">
            <a:off x="16474216" y="5108984"/>
            <a:ext cx="2286000" cy="2286000"/>
            <a:chOff x="0" y="0"/>
            <a:chExt cx="602074" cy="60207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-8100000">
            <a:off x="17511341" y="2639163"/>
            <a:ext cx="2286000" cy="2286000"/>
            <a:chOff x="0" y="0"/>
            <a:chExt cx="602074" cy="60207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-8100000">
            <a:off x="15415315" y="8891625"/>
            <a:ext cx="2762250" cy="2762250"/>
            <a:chOff x="0" y="0"/>
            <a:chExt cx="727506" cy="72750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27506" cy="727506"/>
            </a:xfrm>
            <a:custGeom>
              <a:avLst/>
              <a:gdLst/>
              <a:ahLst/>
              <a:cxnLst/>
              <a:rect r="r" b="b" t="t" l="l"/>
              <a:pathLst>
                <a:path h="727506" w="727506">
                  <a:moveTo>
                    <a:pt x="0" y="0"/>
                  </a:moveTo>
                  <a:lnTo>
                    <a:pt x="727506" y="0"/>
                  </a:lnTo>
                  <a:lnTo>
                    <a:pt x="727506" y="727506"/>
                  </a:lnTo>
                  <a:lnTo>
                    <a:pt x="0" y="727506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100000"/>
                  </a:srgbClr>
                </a:gs>
                <a:gs pos="100000">
                  <a:srgbClr val="4CACE1">
                    <a:alpha val="100000"/>
                  </a:srgbClr>
                </a:gs>
              </a:gsLst>
              <a:lin ang="0"/>
            </a:gra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727506" cy="765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2981371" y="694280"/>
            <a:ext cx="12325258" cy="242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OUTLIER DETECTION  ISOLATION FOREST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97974" y="3423694"/>
            <a:ext cx="11137498" cy="585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1" indent="-410210" lvl="1">
              <a:lnSpc>
                <a:spcPts val="570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G</a:t>
            </a: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oal: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 Identify natural groupings (clusters) in the data.</a:t>
            </a:r>
          </a:p>
          <a:p>
            <a:pPr algn="l" marL="820421" indent="-410210" lvl="1">
              <a:lnSpc>
                <a:spcPts val="570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Algorithm Used: 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KMeans clustering.</a:t>
            </a:r>
          </a:p>
          <a:p>
            <a:pPr algn="l" marL="820421" indent="-410210" lvl="1">
              <a:lnSpc>
                <a:spcPts val="570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Testing for k: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 Tried values of k (2 to 9) and evaluated:</a:t>
            </a:r>
          </a:p>
          <a:p>
            <a:pPr algn="l" marL="1640841" indent="-546947" lvl="2">
              <a:lnSpc>
                <a:spcPts val="5700"/>
              </a:lnSpc>
              <a:buFont typeface="Arial"/>
              <a:buChar char="⚬"/>
            </a:pP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Inertia</a:t>
            </a:r>
          </a:p>
          <a:p>
            <a:pPr algn="l" marL="1640841" indent="-546947" lvl="2">
              <a:lnSpc>
                <a:spcPts val="5700"/>
              </a:lnSpc>
              <a:buFont typeface="Arial"/>
              <a:buChar char="⚬"/>
            </a:pP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Silhouette score</a:t>
            </a:r>
          </a:p>
          <a:p>
            <a:pPr algn="l" marL="820421" indent="-410210" lvl="1">
              <a:lnSpc>
                <a:spcPts val="570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Chosen k: 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k = 2 (Gamma vs Hadron).</a:t>
            </a:r>
          </a:p>
          <a:p>
            <a:pPr algn="l" marL="820421" indent="-410210" lvl="1">
              <a:lnSpc>
                <a:spcPts val="570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Visualizations: 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PCA 2D projection colored by cluster label.</a:t>
            </a:r>
          </a:p>
          <a:p>
            <a:pPr algn="l">
              <a:lnSpc>
                <a:spcPts val="5700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-2700000">
            <a:off x="-1151682" y="3171554"/>
            <a:ext cx="3544221" cy="11737167"/>
            <a:chOff x="0" y="0"/>
            <a:chExt cx="933457" cy="30912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33457" cy="3091270"/>
            </a:xfrm>
            <a:custGeom>
              <a:avLst/>
              <a:gdLst/>
              <a:ahLst/>
              <a:cxnLst/>
              <a:rect r="r" b="b" t="t" l="l"/>
              <a:pathLst>
                <a:path h="3091270" w="933457">
                  <a:moveTo>
                    <a:pt x="0" y="0"/>
                  </a:moveTo>
                  <a:lnTo>
                    <a:pt x="933457" y="0"/>
                  </a:lnTo>
                  <a:lnTo>
                    <a:pt x="933457" y="3091270"/>
                  </a:lnTo>
                  <a:lnTo>
                    <a:pt x="0" y="3091270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25000"/>
                  </a:srgbClr>
                </a:gs>
                <a:gs pos="100000">
                  <a:srgbClr val="4CACE1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33457" cy="3129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2700000">
            <a:off x="-310565" y="-959239"/>
            <a:ext cx="3121340" cy="3086100"/>
            <a:chOff x="0" y="0"/>
            <a:chExt cx="822081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-3222655" y="713190"/>
            <a:ext cx="3121340" cy="3086100"/>
            <a:chOff x="0" y="0"/>
            <a:chExt cx="822081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2700000">
            <a:off x="-472216" y="2892016"/>
            <a:ext cx="2286000" cy="2286000"/>
            <a:chOff x="0" y="0"/>
            <a:chExt cx="602074" cy="60207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2700000">
            <a:off x="-1509341" y="5361837"/>
            <a:ext cx="2286000" cy="2286000"/>
            <a:chOff x="0" y="0"/>
            <a:chExt cx="602074" cy="6020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2700000">
            <a:off x="110435" y="-1366875"/>
            <a:ext cx="2762250" cy="2762250"/>
            <a:chOff x="0" y="0"/>
            <a:chExt cx="727506" cy="72750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27506" cy="727506"/>
            </a:xfrm>
            <a:custGeom>
              <a:avLst/>
              <a:gdLst/>
              <a:ahLst/>
              <a:cxnLst/>
              <a:rect r="r" b="b" t="t" l="l"/>
              <a:pathLst>
                <a:path h="727506" w="727506">
                  <a:moveTo>
                    <a:pt x="0" y="0"/>
                  </a:moveTo>
                  <a:lnTo>
                    <a:pt x="727506" y="0"/>
                  </a:lnTo>
                  <a:lnTo>
                    <a:pt x="727506" y="727506"/>
                  </a:lnTo>
                  <a:lnTo>
                    <a:pt x="0" y="727506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100000"/>
                  </a:srgbClr>
                </a:gs>
                <a:gs pos="100000">
                  <a:srgbClr val="4CACE1">
                    <a:alpha val="100000"/>
                  </a:srgbClr>
                </a:gs>
              </a:gsLst>
              <a:lin ang="0"/>
            </a:gra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727506" cy="765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8100000">
            <a:off x="15895461" y="-4621721"/>
            <a:ext cx="3544221" cy="11737167"/>
            <a:chOff x="0" y="0"/>
            <a:chExt cx="933457" cy="30912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33457" cy="3091270"/>
            </a:xfrm>
            <a:custGeom>
              <a:avLst/>
              <a:gdLst/>
              <a:ahLst/>
              <a:cxnLst/>
              <a:rect r="r" b="b" t="t" l="l"/>
              <a:pathLst>
                <a:path h="3091270" w="933457">
                  <a:moveTo>
                    <a:pt x="0" y="0"/>
                  </a:moveTo>
                  <a:lnTo>
                    <a:pt x="933457" y="0"/>
                  </a:lnTo>
                  <a:lnTo>
                    <a:pt x="933457" y="3091270"/>
                  </a:lnTo>
                  <a:lnTo>
                    <a:pt x="0" y="3091270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25000"/>
                  </a:srgbClr>
                </a:gs>
                <a:gs pos="100000">
                  <a:srgbClr val="4CACE1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933457" cy="3129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8100000">
            <a:off x="15477225" y="8160139"/>
            <a:ext cx="3121340" cy="3086100"/>
            <a:chOff x="0" y="0"/>
            <a:chExt cx="822081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8100000">
            <a:off x="18389315" y="6487710"/>
            <a:ext cx="3121340" cy="3086100"/>
            <a:chOff x="0" y="0"/>
            <a:chExt cx="822081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-8100000">
            <a:off x="16474216" y="5108984"/>
            <a:ext cx="2286000" cy="2286000"/>
            <a:chOff x="0" y="0"/>
            <a:chExt cx="602074" cy="60207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-8100000">
            <a:off x="17511341" y="2639163"/>
            <a:ext cx="2286000" cy="2286000"/>
            <a:chOff x="0" y="0"/>
            <a:chExt cx="602074" cy="60207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-8100000">
            <a:off x="15415315" y="8891625"/>
            <a:ext cx="2762250" cy="2762250"/>
            <a:chOff x="0" y="0"/>
            <a:chExt cx="727506" cy="72750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27506" cy="727506"/>
            </a:xfrm>
            <a:custGeom>
              <a:avLst/>
              <a:gdLst/>
              <a:ahLst/>
              <a:cxnLst/>
              <a:rect r="r" b="b" t="t" l="l"/>
              <a:pathLst>
                <a:path h="727506" w="727506">
                  <a:moveTo>
                    <a:pt x="0" y="0"/>
                  </a:moveTo>
                  <a:lnTo>
                    <a:pt x="727506" y="0"/>
                  </a:lnTo>
                  <a:lnTo>
                    <a:pt x="727506" y="727506"/>
                  </a:lnTo>
                  <a:lnTo>
                    <a:pt x="0" y="727506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100000"/>
                  </a:srgbClr>
                </a:gs>
                <a:gs pos="100000">
                  <a:srgbClr val="4CACE1">
                    <a:alpha val="100000"/>
                  </a:srgbClr>
                </a:gs>
              </a:gsLst>
              <a:lin ang="0"/>
            </a:gra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727506" cy="765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3895937" y="1123037"/>
            <a:ext cx="10496127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CLUSTERING - KMEANS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81320" y="983065"/>
            <a:ext cx="11125359" cy="242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KMEA</a:t>
            </a:r>
            <a:r>
              <a:rPr lang="en-US" sz="69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NS CLUSTERING VISUALIZATION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117241" y="4678840"/>
            <a:ext cx="12053517" cy="296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21" indent="-410210" lvl="1">
              <a:lnSpc>
                <a:spcPts val="570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PCA</a:t>
            </a: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 Projection: 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Visualize clusters in 2D (PCA-reduced features).</a:t>
            </a:r>
          </a:p>
          <a:p>
            <a:pPr algn="just" marL="820421" indent="-410210" lvl="1">
              <a:lnSpc>
                <a:spcPts val="570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Scatter Plot: </a:t>
            </a:r>
            <a:r>
              <a:rPr lang="en-US" sz="3800" u="sng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fAlpha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 vs </a:t>
            </a:r>
            <a:r>
              <a:rPr lang="en-US" sz="3800" u="sng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fDist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 colored by cluster.</a:t>
            </a:r>
          </a:p>
          <a:p>
            <a:pPr algn="just" marL="820421" indent="-410210" lvl="1">
              <a:lnSpc>
                <a:spcPts val="570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Interpretation: 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Show how the clusters align with the Gamma vs Hadron classification.</a:t>
            </a:r>
          </a:p>
        </p:txBody>
      </p:sp>
      <p:grpSp>
        <p:nvGrpSpPr>
          <p:cNvPr name="Group 4" id="4"/>
          <p:cNvGrpSpPr/>
          <p:nvPr/>
        </p:nvGrpSpPr>
        <p:grpSpPr>
          <a:xfrm rot="-2700000">
            <a:off x="-1151682" y="3171554"/>
            <a:ext cx="3544221" cy="11737167"/>
            <a:chOff x="0" y="0"/>
            <a:chExt cx="933457" cy="30912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3457" cy="3091270"/>
            </a:xfrm>
            <a:custGeom>
              <a:avLst/>
              <a:gdLst/>
              <a:ahLst/>
              <a:cxnLst/>
              <a:rect r="r" b="b" t="t" l="l"/>
              <a:pathLst>
                <a:path h="3091270" w="933457">
                  <a:moveTo>
                    <a:pt x="0" y="0"/>
                  </a:moveTo>
                  <a:lnTo>
                    <a:pt x="933457" y="0"/>
                  </a:lnTo>
                  <a:lnTo>
                    <a:pt x="933457" y="3091270"/>
                  </a:lnTo>
                  <a:lnTo>
                    <a:pt x="0" y="3091270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25000"/>
                  </a:srgbClr>
                </a:gs>
                <a:gs pos="100000">
                  <a:srgbClr val="4CACE1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33457" cy="3129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2700000">
            <a:off x="-310565" y="-959239"/>
            <a:ext cx="3121340" cy="3086100"/>
            <a:chOff x="0" y="0"/>
            <a:chExt cx="822081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700000">
            <a:off x="-3222655" y="713190"/>
            <a:ext cx="3121340" cy="3086100"/>
            <a:chOff x="0" y="0"/>
            <a:chExt cx="822081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2700000">
            <a:off x="-472216" y="2892016"/>
            <a:ext cx="2286000" cy="2286000"/>
            <a:chOff x="0" y="0"/>
            <a:chExt cx="602074" cy="6020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2700000">
            <a:off x="-1509341" y="5361837"/>
            <a:ext cx="2286000" cy="2286000"/>
            <a:chOff x="0" y="0"/>
            <a:chExt cx="602074" cy="6020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2700000">
            <a:off x="110435" y="-1366875"/>
            <a:ext cx="2762250" cy="2762250"/>
            <a:chOff x="0" y="0"/>
            <a:chExt cx="727506" cy="72750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7506" cy="727506"/>
            </a:xfrm>
            <a:custGeom>
              <a:avLst/>
              <a:gdLst/>
              <a:ahLst/>
              <a:cxnLst/>
              <a:rect r="r" b="b" t="t" l="l"/>
              <a:pathLst>
                <a:path h="727506" w="727506">
                  <a:moveTo>
                    <a:pt x="0" y="0"/>
                  </a:moveTo>
                  <a:lnTo>
                    <a:pt x="727506" y="0"/>
                  </a:lnTo>
                  <a:lnTo>
                    <a:pt x="727506" y="727506"/>
                  </a:lnTo>
                  <a:lnTo>
                    <a:pt x="0" y="727506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100000"/>
                  </a:srgbClr>
                </a:gs>
                <a:gs pos="100000">
                  <a:srgbClr val="4CACE1">
                    <a:alpha val="100000"/>
                  </a:srgbClr>
                </a:gs>
              </a:gsLst>
              <a:lin ang="0"/>
            </a:gra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27506" cy="765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8100000">
            <a:off x="15895461" y="-4621721"/>
            <a:ext cx="3544221" cy="11737167"/>
            <a:chOff x="0" y="0"/>
            <a:chExt cx="933457" cy="30912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33457" cy="3091270"/>
            </a:xfrm>
            <a:custGeom>
              <a:avLst/>
              <a:gdLst/>
              <a:ahLst/>
              <a:cxnLst/>
              <a:rect r="r" b="b" t="t" l="l"/>
              <a:pathLst>
                <a:path h="3091270" w="933457">
                  <a:moveTo>
                    <a:pt x="0" y="0"/>
                  </a:moveTo>
                  <a:lnTo>
                    <a:pt x="933457" y="0"/>
                  </a:lnTo>
                  <a:lnTo>
                    <a:pt x="933457" y="3091270"/>
                  </a:lnTo>
                  <a:lnTo>
                    <a:pt x="0" y="3091270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25000"/>
                  </a:srgbClr>
                </a:gs>
                <a:gs pos="100000">
                  <a:srgbClr val="4CACE1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33457" cy="3129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-8100000">
            <a:off x="15477225" y="8160139"/>
            <a:ext cx="3121340" cy="3086100"/>
            <a:chOff x="0" y="0"/>
            <a:chExt cx="822081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8100000">
            <a:off x="18389315" y="6487710"/>
            <a:ext cx="3121340" cy="3086100"/>
            <a:chOff x="0" y="0"/>
            <a:chExt cx="822081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8100000">
            <a:off x="16474216" y="5108984"/>
            <a:ext cx="2286000" cy="2286000"/>
            <a:chOff x="0" y="0"/>
            <a:chExt cx="602074" cy="60207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-8100000">
            <a:off x="17511341" y="2639163"/>
            <a:ext cx="2286000" cy="2286000"/>
            <a:chOff x="0" y="0"/>
            <a:chExt cx="602074" cy="60207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-8100000">
            <a:off x="15415315" y="8891625"/>
            <a:ext cx="2762250" cy="2762250"/>
            <a:chOff x="0" y="0"/>
            <a:chExt cx="727506" cy="72750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27506" cy="727506"/>
            </a:xfrm>
            <a:custGeom>
              <a:avLst/>
              <a:gdLst/>
              <a:ahLst/>
              <a:cxnLst/>
              <a:rect r="r" b="b" t="t" l="l"/>
              <a:pathLst>
                <a:path h="727506" w="727506">
                  <a:moveTo>
                    <a:pt x="0" y="0"/>
                  </a:moveTo>
                  <a:lnTo>
                    <a:pt x="727506" y="0"/>
                  </a:lnTo>
                  <a:lnTo>
                    <a:pt x="727506" y="727506"/>
                  </a:lnTo>
                  <a:lnTo>
                    <a:pt x="0" y="727506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100000"/>
                  </a:srgbClr>
                </a:gs>
                <a:gs pos="100000">
                  <a:srgbClr val="4CACE1">
                    <a:alpha val="100000"/>
                  </a:srgbClr>
                </a:gs>
              </a:gsLst>
              <a:lin ang="0"/>
            </a:gra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727506" cy="765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41878" y="983065"/>
            <a:ext cx="13204244" cy="242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FR</a:t>
            </a:r>
            <a:r>
              <a:rPr lang="en-US" sz="69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EQUENT ITEMSET &amp; ASSOCIATION RULE MINING</a:t>
            </a:r>
          </a:p>
        </p:txBody>
      </p:sp>
      <p:grpSp>
        <p:nvGrpSpPr>
          <p:cNvPr name="Group 3" id="3"/>
          <p:cNvGrpSpPr/>
          <p:nvPr/>
        </p:nvGrpSpPr>
        <p:grpSpPr>
          <a:xfrm rot="-2700000">
            <a:off x="-1151682" y="3171554"/>
            <a:ext cx="3544221" cy="11737167"/>
            <a:chOff x="0" y="0"/>
            <a:chExt cx="933457" cy="30912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33457" cy="3091270"/>
            </a:xfrm>
            <a:custGeom>
              <a:avLst/>
              <a:gdLst/>
              <a:ahLst/>
              <a:cxnLst/>
              <a:rect r="r" b="b" t="t" l="l"/>
              <a:pathLst>
                <a:path h="3091270" w="933457">
                  <a:moveTo>
                    <a:pt x="0" y="0"/>
                  </a:moveTo>
                  <a:lnTo>
                    <a:pt x="933457" y="0"/>
                  </a:lnTo>
                  <a:lnTo>
                    <a:pt x="933457" y="3091270"/>
                  </a:lnTo>
                  <a:lnTo>
                    <a:pt x="0" y="3091270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25000"/>
                  </a:srgbClr>
                </a:gs>
                <a:gs pos="100000">
                  <a:srgbClr val="4CACE1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33457" cy="3129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2700000">
            <a:off x="-310565" y="-959239"/>
            <a:ext cx="3121340" cy="3086100"/>
            <a:chOff x="0" y="0"/>
            <a:chExt cx="822081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2700000">
            <a:off x="-3222655" y="713190"/>
            <a:ext cx="3121340" cy="3086100"/>
            <a:chOff x="0" y="0"/>
            <a:chExt cx="822081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2700000">
            <a:off x="-472216" y="2892016"/>
            <a:ext cx="2286000" cy="2286000"/>
            <a:chOff x="0" y="0"/>
            <a:chExt cx="602074" cy="60207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2700000">
            <a:off x="-1509341" y="5361837"/>
            <a:ext cx="2286000" cy="2286000"/>
            <a:chOff x="0" y="0"/>
            <a:chExt cx="602074" cy="6020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2700000">
            <a:off x="110435" y="-1366875"/>
            <a:ext cx="2762250" cy="2762250"/>
            <a:chOff x="0" y="0"/>
            <a:chExt cx="727506" cy="72750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27506" cy="727506"/>
            </a:xfrm>
            <a:custGeom>
              <a:avLst/>
              <a:gdLst/>
              <a:ahLst/>
              <a:cxnLst/>
              <a:rect r="r" b="b" t="t" l="l"/>
              <a:pathLst>
                <a:path h="727506" w="727506">
                  <a:moveTo>
                    <a:pt x="0" y="0"/>
                  </a:moveTo>
                  <a:lnTo>
                    <a:pt x="727506" y="0"/>
                  </a:lnTo>
                  <a:lnTo>
                    <a:pt x="727506" y="727506"/>
                  </a:lnTo>
                  <a:lnTo>
                    <a:pt x="0" y="727506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100000"/>
                  </a:srgbClr>
                </a:gs>
                <a:gs pos="100000">
                  <a:srgbClr val="4CACE1">
                    <a:alpha val="100000"/>
                  </a:srgbClr>
                </a:gs>
              </a:gsLst>
              <a:lin ang="0"/>
            </a:gra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727506" cy="765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8100000">
            <a:off x="15895461" y="-4621721"/>
            <a:ext cx="3544221" cy="11737167"/>
            <a:chOff x="0" y="0"/>
            <a:chExt cx="933457" cy="30912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33457" cy="3091270"/>
            </a:xfrm>
            <a:custGeom>
              <a:avLst/>
              <a:gdLst/>
              <a:ahLst/>
              <a:cxnLst/>
              <a:rect r="r" b="b" t="t" l="l"/>
              <a:pathLst>
                <a:path h="3091270" w="933457">
                  <a:moveTo>
                    <a:pt x="0" y="0"/>
                  </a:moveTo>
                  <a:lnTo>
                    <a:pt x="933457" y="0"/>
                  </a:lnTo>
                  <a:lnTo>
                    <a:pt x="933457" y="3091270"/>
                  </a:lnTo>
                  <a:lnTo>
                    <a:pt x="0" y="3091270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25000"/>
                  </a:srgbClr>
                </a:gs>
                <a:gs pos="100000">
                  <a:srgbClr val="4CACE1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933457" cy="3129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8100000">
            <a:off x="15477225" y="8160139"/>
            <a:ext cx="3121340" cy="3086100"/>
            <a:chOff x="0" y="0"/>
            <a:chExt cx="822081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8100000">
            <a:off x="18389315" y="6487710"/>
            <a:ext cx="3121340" cy="3086100"/>
            <a:chOff x="0" y="0"/>
            <a:chExt cx="822081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-8100000">
            <a:off x="16474216" y="5108984"/>
            <a:ext cx="2286000" cy="2286000"/>
            <a:chOff x="0" y="0"/>
            <a:chExt cx="602074" cy="60207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-8100000">
            <a:off x="17511341" y="2639163"/>
            <a:ext cx="2286000" cy="2286000"/>
            <a:chOff x="0" y="0"/>
            <a:chExt cx="602074" cy="60207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-8100000">
            <a:off x="15415315" y="8891625"/>
            <a:ext cx="2762250" cy="2762250"/>
            <a:chOff x="0" y="0"/>
            <a:chExt cx="727506" cy="72750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27506" cy="727506"/>
            </a:xfrm>
            <a:custGeom>
              <a:avLst/>
              <a:gdLst/>
              <a:ahLst/>
              <a:cxnLst/>
              <a:rect r="r" b="b" t="t" l="l"/>
              <a:pathLst>
                <a:path h="727506" w="727506">
                  <a:moveTo>
                    <a:pt x="0" y="0"/>
                  </a:moveTo>
                  <a:lnTo>
                    <a:pt x="727506" y="0"/>
                  </a:lnTo>
                  <a:lnTo>
                    <a:pt x="727506" y="727506"/>
                  </a:lnTo>
                  <a:lnTo>
                    <a:pt x="0" y="727506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100000"/>
                  </a:srgbClr>
                </a:gs>
                <a:gs pos="100000">
                  <a:srgbClr val="4CACE1">
                    <a:alpha val="100000"/>
                  </a:srgbClr>
                </a:gs>
              </a:gsLst>
              <a:lin ang="0"/>
            </a:gra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727506" cy="765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3117241" y="3815941"/>
            <a:ext cx="12053517" cy="5779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1" indent="-410210" lvl="1">
              <a:lnSpc>
                <a:spcPts val="570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G</a:t>
            </a: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oal: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 Discover patterns and relationships between features and classes.</a:t>
            </a:r>
          </a:p>
          <a:p>
            <a:pPr algn="l" marL="820421" indent="-410210" lvl="1">
              <a:lnSpc>
                <a:spcPts val="570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Steps:</a:t>
            </a:r>
          </a:p>
          <a:p>
            <a:pPr algn="l" marL="1597662" indent="-532554" lvl="2">
              <a:lnSpc>
                <a:spcPts val="5550"/>
              </a:lnSpc>
              <a:buAutoNum type="alphaLcPeriod" startAt="1"/>
            </a:pPr>
            <a:r>
              <a:rPr lang="en-US" b="true" sz="37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Discretization:</a:t>
            </a:r>
            <a:r>
              <a:rPr lang="en-US" sz="37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 Convert numerical features into low, medium, high categories.</a:t>
            </a:r>
          </a:p>
          <a:p>
            <a:pPr algn="l" marL="1597662" indent="-532554" lvl="2">
              <a:lnSpc>
                <a:spcPts val="5550"/>
              </a:lnSpc>
              <a:buAutoNum type="alphaLcPeriod" startAt="1"/>
            </a:pPr>
            <a:r>
              <a:rPr lang="en-US" b="true" sz="37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Transaction Encoding: </a:t>
            </a:r>
            <a:r>
              <a:rPr lang="en-US" sz="37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Use pd.get_dummies for binary encoding.</a:t>
            </a:r>
          </a:p>
          <a:p>
            <a:pPr algn="l" marL="820421" indent="-410210" lvl="1">
              <a:lnSpc>
                <a:spcPts val="570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Library: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 mlxtend for Apriori and Association Rules.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2056" y="1234295"/>
            <a:ext cx="12383889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FREQUE</a:t>
            </a:r>
            <a:r>
              <a:rPr lang="en-US" sz="69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NT ITEMSET MINING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117241" y="3539265"/>
            <a:ext cx="12053517" cy="3665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1" indent="-410210" lvl="1">
              <a:lnSpc>
                <a:spcPts val="570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A</a:t>
            </a: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priori Algorithm: 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Find frequent itemsets.</a:t>
            </a:r>
          </a:p>
          <a:p>
            <a:pPr algn="just" marL="820421" indent="-410210" lvl="1">
              <a:lnSpc>
                <a:spcPts val="570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Parameters:</a:t>
            </a:r>
          </a:p>
          <a:p>
            <a:pPr algn="l" marL="1597662" indent="-532554" lvl="2">
              <a:lnSpc>
                <a:spcPts val="5550"/>
              </a:lnSpc>
              <a:buFont typeface="Arial"/>
              <a:buChar char="⚬"/>
            </a:pPr>
            <a:r>
              <a:rPr lang="en-US" sz="37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min_support = 0.05 (5% support).</a:t>
            </a:r>
          </a:p>
          <a:p>
            <a:pPr algn="l" marL="820421" indent="-410210" lvl="1">
              <a:lnSpc>
                <a:spcPts val="570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Result: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 Top 10 frequent itemsets found.</a:t>
            </a:r>
          </a:p>
          <a:p>
            <a:pPr algn="l" marL="820421" indent="-410210" lvl="1">
              <a:lnSpc>
                <a:spcPts val="570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Visualization: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 Bar chart of the top 10 itemsets by support.</a:t>
            </a:r>
          </a:p>
        </p:txBody>
      </p:sp>
      <p:grpSp>
        <p:nvGrpSpPr>
          <p:cNvPr name="Group 4" id="4"/>
          <p:cNvGrpSpPr/>
          <p:nvPr/>
        </p:nvGrpSpPr>
        <p:grpSpPr>
          <a:xfrm rot="-2700000">
            <a:off x="-1151682" y="3171554"/>
            <a:ext cx="3544221" cy="11737167"/>
            <a:chOff x="0" y="0"/>
            <a:chExt cx="933457" cy="30912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3457" cy="3091270"/>
            </a:xfrm>
            <a:custGeom>
              <a:avLst/>
              <a:gdLst/>
              <a:ahLst/>
              <a:cxnLst/>
              <a:rect r="r" b="b" t="t" l="l"/>
              <a:pathLst>
                <a:path h="3091270" w="933457">
                  <a:moveTo>
                    <a:pt x="0" y="0"/>
                  </a:moveTo>
                  <a:lnTo>
                    <a:pt x="933457" y="0"/>
                  </a:lnTo>
                  <a:lnTo>
                    <a:pt x="933457" y="3091270"/>
                  </a:lnTo>
                  <a:lnTo>
                    <a:pt x="0" y="3091270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25000"/>
                  </a:srgbClr>
                </a:gs>
                <a:gs pos="100000">
                  <a:srgbClr val="4CACE1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33457" cy="3129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2700000">
            <a:off x="-310565" y="-959239"/>
            <a:ext cx="3121340" cy="3086100"/>
            <a:chOff x="0" y="0"/>
            <a:chExt cx="822081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700000">
            <a:off x="-3222655" y="713190"/>
            <a:ext cx="3121340" cy="3086100"/>
            <a:chOff x="0" y="0"/>
            <a:chExt cx="822081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2700000">
            <a:off x="-472216" y="2892016"/>
            <a:ext cx="2286000" cy="2286000"/>
            <a:chOff x="0" y="0"/>
            <a:chExt cx="602074" cy="6020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2700000">
            <a:off x="-1509341" y="5361837"/>
            <a:ext cx="2286000" cy="2286000"/>
            <a:chOff x="0" y="0"/>
            <a:chExt cx="602074" cy="6020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2700000">
            <a:off x="110435" y="-1366875"/>
            <a:ext cx="2762250" cy="2762250"/>
            <a:chOff x="0" y="0"/>
            <a:chExt cx="727506" cy="72750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7506" cy="727506"/>
            </a:xfrm>
            <a:custGeom>
              <a:avLst/>
              <a:gdLst/>
              <a:ahLst/>
              <a:cxnLst/>
              <a:rect r="r" b="b" t="t" l="l"/>
              <a:pathLst>
                <a:path h="727506" w="727506">
                  <a:moveTo>
                    <a:pt x="0" y="0"/>
                  </a:moveTo>
                  <a:lnTo>
                    <a:pt x="727506" y="0"/>
                  </a:lnTo>
                  <a:lnTo>
                    <a:pt x="727506" y="727506"/>
                  </a:lnTo>
                  <a:lnTo>
                    <a:pt x="0" y="727506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100000"/>
                  </a:srgbClr>
                </a:gs>
                <a:gs pos="100000">
                  <a:srgbClr val="4CACE1">
                    <a:alpha val="100000"/>
                  </a:srgbClr>
                </a:gs>
              </a:gsLst>
              <a:lin ang="0"/>
            </a:gra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27506" cy="765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8100000">
            <a:off x="15895461" y="-4621721"/>
            <a:ext cx="3544221" cy="11737167"/>
            <a:chOff x="0" y="0"/>
            <a:chExt cx="933457" cy="30912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33457" cy="3091270"/>
            </a:xfrm>
            <a:custGeom>
              <a:avLst/>
              <a:gdLst/>
              <a:ahLst/>
              <a:cxnLst/>
              <a:rect r="r" b="b" t="t" l="l"/>
              <a:pathLst>
                <a:path h="3091270" w="933457">
                  <a:moveTo>
                    <a:pt x="0" y="0"/>
                  </a:moveTo>
                  <a:lnTo>
                    <a:pt x="933457" y="0"/>
                  </a:lnTo>
                  <a:lnTo>
                    <a:pt x="933457" y="3091270"/>
                  </a:lnTo>
                  <a:lnTo>
                    <a:pt x="0" y="3091270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25000"/>
                  </a:srgbClr>
                </a:gs>
                <a:gs pos="100000">
                  <a:srgbClr val="4CACE1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33457" cy="3129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-8100000">
            <a:off x="15477225" y="8160139"/>
            <a:ext cx="3121340" cy="3086100"/>
            <a:chOff x="0" y="0"/>
            <a:chExt cx="822081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8100000">
            <a:off x="18389315" y="6487710"/>
            <a:ext cx="3121340" cy="3086100"/>
            <a:chOff x="0" y="0"/>
            <a:chExt cx="822081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8100000">
            <a:off x="16474216" y="5108984"/>
            <a:ext cx="2286000" cy="2286000"/>
            <a:chOff x="0" y="0"/>
            <a:chExt cx="602074" cy="60207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-8100000">
            <a:off x="17511341" y="2639163"/>
            <a:ext cx="2286000" cy="2286000"/>
            <a:chOff x="0" y="0"/>
            <a:chExt cx="602074" cy="60207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-8100000">
            <a:off x="15415315" y="8891625"/>
            <a:ext cx="2762250" cy="2762250"/>
            <a:chOff x="0" y="0"/>
            <a:chExt cx="727506" cy="72750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27506" cy="727506"/>
            </a:xfrm>
            <a:custGeom>
              <a:avLst/>
              <a:gdLst/>
              <a:ahLst/>
              <a:cxnLst/>
              <a:rect r="r" b="b" t="t" l="l"/>
              <a:pathLst>
                <a:path h="727506" w="727506">
                  <a:moveTo>
                    <a:pt x="0" y="0"/>
                  </a:moveTo>
                  <a:lnTo>
                    <a:pt x="727506" y="0"/>
                  </a:lnTo>
                  <a:lnTo>
                    <a:pt x="727506" y="727506"/>
                  </a:lnTo>
                  <a:lnTo>
                    <a:pt x="0" y="727506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100000"/>
                  </a:srgbClr>
                </a:gs>
                <a:gs pos="100000">
                  <a:srgbClr val="4CACE1">
                    <a:alpha val="100000"/>
                  </a:srgbClr>
                </a:gs>
              </a:gsLst>
              <a:lin ang="0"/>
            </a:gra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727506" cy="765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2056" y="1234295"/>
            <a:ext cx="12383889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ASSOCIATIO</a:t>
            </a:r>
            <a:r>
              <a:rPr lang="en-US" sz="69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 RULE MINING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89716" y="2678430"/>
            <a:ext cx="12053517" cy="657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1" indent="-410210" lvl="1">
              <a:lnSpc>
                <a:spcPts val="570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Goal: 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D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iscover associations between features and the class (Gamma/Hadron).</a:t>
            </a:r>
          </a:p>
          <a:p>
            <a:pPr algn="l" marL="820421" indent="-410210" lvl="1">
              <a:lnSpc>
                <a:spcPts val="570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Parameters:</a:t>
            </a:r>
          </a:p>
          <a:p>
            <a:pPr algn="l" marL="1640841" indent="-546947" lvl="2">
              <a:lnSpc>
                <a:spcPts val="5700"/>
              </a:lnSpc>
              <a:buFont typeface="Arial"/>
              <a:buChar char="⚬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min_threshold = 0.6 for confidence.</a:t>
            </a:r>
          </a:p>
          <a:p>
            <a:pPr algn="l" marL="820421" indent="-410210" lvl="1">
              <a:lnSpc>
                <a:spcPts val="570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Metrics:</a:t>
            </a:r>
          </a:p>
          <a:p>
            <a:pPr algn="l" marL="1640841" indent="-546947" lvl="2">
              <a:lnSpc>
                <a:spcPts val="5700"/>
              </a:lnSpc>
              <a:buFont typeface="Arial"/>
              <a:buChar char="⚬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Support</a:t>
            </a: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: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 How often an itemset appears in the dataset</a:t>
            </a: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.</a:t>
            </a:r>
          </a:p>
          <a:p>
            <a:pPr algn="l" marL="1640841" indent="-546947" lvl="2">
              <a:lnSpc>
                <a:spcPts val="5700"/>
              </a:lnSpc>
              <a:buFont typeface="Arial"/>
              <a:buChar char="⚬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Confidence: 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Likelihood that the consequent is true.</a:t>
            </a:r>
          </a:p>
          <a:p>
            <a:pPr algn="l" marL="1640841" indent="-546947" lvl="2">
              <a:lnSpc>
                <a:spcPts val="5700"/>
              </a:lnSpc>
              <a:buFont typeface="Arial"/>
              <a:buChar char="⚬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Lift: 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The strength of the rule.</a:t>
            </a:r>
          </a:p>
          <a:p>
            <a:pPr algn="l" marL="820421" indent="-410210" lvl="1">
              <a:lnSpc>
                <a:spcPts val="570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Filtered: 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Rules containing class_gamma or class_hadron.</a:t>
            </a:r>
          </a:p>
        </p:txBody>
      </p:sp>
      <p:grpSp>
        <p:nvGrpSpPr>
          <p:cNvPr name="Group 4" id="4"/>
          <p:cNvGrpSpPr/>
          <p:nvPr/>
        </p:nvGrpSpPr>
        <p:grpSpPr>
          <a:xfrm rot="-2700000">
            <a:off x="-1151682" y="3171554"/>
            <a:ext cx="3544221" cy="11737167"/>
            <a:chOff x="0" y="0"/>
            <a:chExt cx="933457" cy="30912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3457" cy="3091270"/>
            </a:xfrm>
            <a:custGeom>
              <a:avLst/>
              <a:gdLst/>
              <a:ahLst/>
              <a:cxnLst/>
              <a:rect r="r" b="b" t="t" l="l"/>
              <a:pathLst>
                <a:path h="3091270" w="933457">
                  <a:moveTo>
                    <a:pt x="0" y="0"/>
                  </a:moveTo>
                  <a:lnTo>
                    <a:pt x="933457" y="0"/>
                  </a:lnTo>
                  <a:lnTo>
                    <a:pt x="933457" y="3091270"/>
                  </a:lnTo>
                  <a:lnTo>
                    <a:pt x="0" y="3091270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25000"/>
                  </a:srgbClr>
                </a:gs>
                <a:gs pos="100000">
                  <a:srgbClr val="4CACE1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33457" cy="3129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2700000">
            <a:off x="-310565" y="-959239"/>
            <a:ext cx="3121340" cy="3086100"/>
            <a:chOff x="0" y="0"/>
            <a:chExt cx="822081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700000">
            <a:off x="-3222655" y="713190"/>
            <a:ext cx="3121340" cy="3086100"/>
            <a:chOff x="0" y="0"/>
            <a:chExt cx="822081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2700000">
            <a:off x="-472216" y="2892016"/>
            <a:ext cx="2286000" cy="2286000"/>
            <a:chOff x="0" y="0"/>
            <a:chExt cx="602074" cy="6020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2700000">
            <a:off x="-1509341" y="5361837"/>
            <a:ext cx="2286000" cy="2286000"/>
            <a:chOff x="0" y="0"/>
            <a:chExt cx="602074" cy="6020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2700000">
            <a:off x="110435" y="-1366875"/>
            <a:ext cx="2762250" cy="2762250"/>
            <a:chOff x="0" y="0"/>
            <a:chExt cx="727506" cy="72750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7506" cy="727506"/>
            </a:xfrm>
            <a:custGeom>
              <a:avLst/>
              <a:gdLst/>
              <a:ahLst/>
              <a:cxnLst/>
              <a:rect r="r" b="b" t="t" l="l"/>
              <a:pathLst>
                <a:path h="727506" w="727506">
                  <a:moveTo>
                    <a:pt x="0" y="0"/>
                  </a:moveTo>
                  <a:lnTo>
                    <a:pt x="727506" y="0"/>
                  </a:lnTo>
                  <a:lnTo>
                    <a:pt x="727506" y="727506"/>
                  </a:lnTo>
                  <a:lnTo>
                    <a:pt x="0" y="727506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100000"/>
                  </a:srgbClr>
                </a:gs>
                <a:gs pos="100000">
                  <a:srgbClr val="4CACE1">
                    <a:alpha val="100000"/>
                  </a:srgbClr>
                </a:gs>
              </a:gsLst>
              <a:lin ang="0"/>
            </a:gra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27506" cy="765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8100000">
            <a:off x="15895461" y="-4621721"/>
            <a:ext cx="3544221" cy="11737167"/>
            <a:chOff x="0" y="0"/>
            <a:chExt cx="933457" cy="30912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33457" cy="3091270"/>
            </a:xfrm>
            <a:custGeom>
              <a:avLst/>
              <a:gdLst/>
              <a:ahLst/>
              <a:cxnLst/>
              <a:rect r="r" b="b" t="t" l="l"/>
              <a:pathLst>
                <a:path h="3091270" w="933457">
                  <a:moveTo>
                    <a:pt x="0" y="0"/>
                  </a:moveTo>
                  <a:lnTo>
                    <a:pt x="933457" y="0"/>
                  </a:lnTo>
                  <a:lnTo>
                    <a:pt x="933457" y="3091270"/>
                  </a:lnTo>
                  <a:lnTo>
                    <a:pt x="0" y="3091270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25000"/>
                  </a:srgbClr>
                </a:gs>
                <a:gs pos="100000">
                  <a:srgbClr val="4CACE1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33457" cy="3129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-8100000">
            <a:off x="15477225" y="8160139"/>
            <a:ext cx="3121340" cy="3086100"/>
            <a:chOff x="0" y="0"/>
            <a:chExt cx="822081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8100000">
            <a:off x="18389315" y="6487710"/>
            <a:ext cx="3121340" cy="3086100"/>
            <a:chOff x="0" y="0"/>
            <a:chExt cx="822081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8100000">
            <a:off x="16474216" y="5108984"/>
            <a:ext cx="2286000" cy="2286000"/>
            <a:chOff x="0" y="0"/>
            <a:chExt cx="602074" cy="60207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-8100000">
            <a:off x="17511341" y="2639163"/>
            <a:ext cx="2286000" cy="2286000"/>
            <a:chOff x="0" y="0"/>
            <a:chExt cx="602074" cy="60207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-8100000">
            <a:off x="15415315" y="8891625"/>
            <a:ext cx="2762250" cy="2762250"/>
            <a:chOff x="0" y="0"/>
            <a:chExt cx="727506" cy="72750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27506" cy="727506"/>
            </a:xfrm>
            <a:custGeom>
              <a:avLst/>
              <a:gdLst/>
              <a:ahLst/>
              <a:cxnLst/>
              <a:rect r="r" b="b" t="t" l="l"/>
              <a:pathLst>
                <a:path h="727506" w="727506">
                  <a:moveTo>
                    <a:pt x="0" y="0"/>
                  </a:moveTo>
                  <a:lnTo>
                    <a:pt x="727506" y="0"/>
                  </a:lnTo>
                  <a:lnTo>
                    <a:pt x="727506" y="727506"/>
                  </a:lnTo>
                  <a:lnTo>
                    <a:pt x="0" y="727506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100000"/>
                  </a:srgbClr>
                </a:gs>
                <a:gs pos="100000">
                  <a:srgbClr val="4CACE1">
                    <a:alpha val="100000"/>
                  </a:srgbClr>
                </a:gs>
              </a:gsLst>
              <a:lin ang="0"/>
            </a:gra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727506" cy="765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2056" y="1234295"/>
            <a:ext cx="12383889" cy="242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ASSOCIATIO</a:t>
            </a:r>
            <a:r>
              <a:rPr lang="en-US" sz="69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 RULES VISUALIZATION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117241" y="4692283"/>
            <a:ext cx="12053517" cy="3648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1" indent="-410210" lvl="1">
              <a:lnSpc>
                <a:spcPts val="570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Scatter Plot: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 Su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pport vs Confidence for all association rules.</a:t>
            </a:r>
          </a:p>
          <a:p>
            <a:pPr algn="l" marL="820421" indent="-410210" lvl="1">
              <a:lnSpc>
                <a:spcPts val="570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Top Rules: 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Display the most info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rmative rules (h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ighest lift).</a:t>
            </a:r>
          </a:p>
          <a:p>
            <a:pPr algn="l" marL="820421" indent="-410210" lvl="1">
              <a:lnSpc>
                <a:spcPts val="570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Interpretation: 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Examples of strong rul</a:t>
            </a:r>
            <a:r>
              <a:rPr lang="en-US" sz="38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es, such as:</a:t>
            </a:r>
          </a:p>
          <a:p>
            <a:pPr algn="l" marL="1597662" indent="-532554" lvl="2">
              <a:lnSpc>
                <a:spcPts val="5550"/>
              </a:lnSpc>
              <a:buFont typeface="Arial"/>
              <a:buChar char="⚬"/>
            </a:pPr>
            <a:r>
              <a:rPr lang="en-US" sz="37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If </a:t>
            </a:r>
            <a:r>
              <a:rPr lang="en-US" sz="3700" u="sng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fAlpha</a:t>
            </a:r>
            <a:r>
              <a:rPr lang="en-US" sz="37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 is high and </a:t>
            </a:r>
            <a:r>
              <a:rPr lang="en-US" sz="3700" u="sng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fDist</a:t>
            </a:r>
            <a:r>
              <a:rPr lang="en-US" sz="37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 is low, the event is likely </a:t>
            </a:r>
            <a:r>
              <a:rPr lang="en-US" sz="3700" u="sng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Gamma</a:t>
            </a:r>
            <a:r>
              <a:rPr lang="en-US" sz="37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.</a:t>
            </a:r>
          </a:p>
          <a:p>
            <a:pPr algn="l" marL="1597662" indent="-532554" lvl="2">
              <a:lnSpc>
                <a:spcPts val="5550"/>
              </a:lnSpc>
              <a:buFont typeface="Arial"/>
              <a:buChar char="⚬"/>
            </a:pPr>
            <a:r>
              <a:rPr lang="en-US" sz="37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If </a:t>
            </a:r>
            <a:r>
              <a:rPr lang="en-US" sz="3700" u="sng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fWidth</a:t>
            </a:r>
            <a:r>
              <a:rPr lang="en-US" sz="37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 is low and </a:t>
            </a:r>
            <a:r>
              <a:rPr lang="en-US" sz="3700" u="sng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fAsym </a:t>
            </a:r>
            <a:r>
              <a:rPr lang="en-US" sz="37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is high, the event is likely </a:t>
            </a:r>
            <a:r>
              <a:rPr lang="en-US" sz="3700" u="sng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Hadron</a:t>
            </a:r>
            <a:r>
              <a:rPr lang="en-US" sz="37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.</a:t>
            </a:r>
          </a:p>
        </p:txBody>
      </p:sp>
      <p:grpSp>
        <p:nvGrpSpPr>
          <p:cNvPr name="Group 4" id="4"/>
          <p:cNvGrpSpPr/>
          <p:nvPr/>
        </p:nvGrpSpPr>
        <p:grpSpPr>
          <a:xfrm rot="-2700000">
            <a:off x="-1151682" y="3171554"/>
            <a:ext cx="3544221" cy="11737167"/>
            <a:chOff x="0" y="0"/>
            <a:chExt cx="933457" cy="30912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3457" cy="3091270"/>
            </a:xfrm>
            <a:custGeom>
              <a:avLst/>
              <a:gdLst/>
              <a:ahLst/>
              <a:cxnLst/>
              <a:rect r="r" b="b" t="t" l="l"/>
              <a:pathLst>
                <a:path h="3091270" w="933457">
                  <a:moveTo>
                    <a:pt x="0" y="0"/>
                  </a:moveTo>
                  <a:lnTo>
                    <a:pt x="933457" y="0"/>
                  </a:lnTo>
                  <a:lnTo>
                    <a:pt x="933457" y="3091270"/>
                  </a:lnTo>
                  <a:lnTo>
                    <a:pt x="0" y="3091270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25000"/>
                  </a:srgbClr>
                </a:gs>
                <a:gs pos="100000">
                  <a:srgbClr val="4CACE1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33457" cy="3129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2700000">
            <a:off x="-310565" y="-959239"/>
            <a:ext cx="3121340" cy="3086100"/>
            <a:chOff x="0" y="0"/>
            <a:chExt cx="822081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700000">
            <a:off x="-3222655" y="713190"/>
            <a:ext cx="3121340" cy="3086100"/>
            <a:chOff x="0" y="0"/>
            <a:chExt cx="822081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2700000">
            <a:off x="-472216" y="2892016"/>
            <a:ext cx="2286000" cy="2286000"/>
            <a:chOff x="0" y="0"/>
            <a:chExt cx="602074" cy="6020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2700000">
            <a:off x="-1509341" y="5361837"/>
            <a:ext cx="2286000" cy="2286000"/>
            <a:chOff x="0" y="0"/>
            <a:chExt cx="602074" cy="6020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2700000">
            <a:off x="110435" y="-1366875"/>
            <a:ext cx="2762250" cy="2762250"/>
            <a:chOff x="0" y="0"/>
            <a:chExt cx="727506" cy="72750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7506" cy="727506"/>
            </a:xfrm>
            <a:custGeom>
              <a:avLst/>
              <a:gdLst/>
              <a:ahLst/>
              <a:cxnLst/>
              <a:rect r="r" b="b" t="t" l="l"/>
              <a:pathLst>
                <a:path h="727506" w="727506">
                  <a:moveTo>
                    <a:pt x="0" y="0"/>
                  </a:moveTo>
                  <a:lnTo>
                    <a:pt x="727506" y="0"/>
                  </a:lnTo>
                  <a:lnTo>
                    <a:pt x="727506" y="727506"/>
                  </a:lnTo>
                  <a:lnTo>
                    <a:pt x="0" y="727506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100000"/>
                  </a:srgbClr>
                </a:gs>
                <a:gs pos="100000">
                  <a:srgbClr val="4CACE1">
                    <a:alpha val="100000"/>
                  </a:srgbClr>
                </a:gs>
              </a:gsLst>
              <a:lin ang="0"/>
            </a:gra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27506" cy="765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8100000">
            <a:off x="15895461" y="-4621721"/>
            <a:ext cx="3544221" cy="11737167"/>
            <a:chOff x="0" y="0"/>
            <a:chExt cx="933457" cy="30912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33457" cy="3091270"/>
            </a:xfrm>
            <a:custGeom>
              <a:avLst/>
              <a:gdLst/>
              <a:ahLst/>
              <a:cxnLst/>
              <a:rect r="r" b="b" t="t" l="l"/>
              <a:pathLst>
                <a:path h="3091270" w="933457">
                  <a:moveTo>
                    <a:pt x="0" y="0"/>
                  </a:moveTo>
                  <a:lnTo>
                    <a:pt x="933457" y="0"/>
                  </a:lnTo>
                  <a:lnTo>
                    <a:pt x="933457" y="3091270"/>
                  </a:lnTo>
                  <a:lnTo>
                    <a:pt x="0" y="3091270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25000"/>
                  </a:srgbClr>
                </a:gs>
                <a:gs pos="100000">
                  <a:srgbClr val="4CACE1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33457" cy="3129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-8100000">
            <a:off x="15477225" y="8160139"/>
            <a:ext cx="3121340" cy="3086100"/>
            <a:chOff x="0" y="0"/>
            <a:chExt cx="822081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8100000">
            <a:off x="18389315" y="6487710"/>
            <a:ext cx="3121340" cy="3086100"/>
            <a:chOff x="0" y="0"/>
            <a:chExt cx="822081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8100000">
            <a:off x="16474216" y="5108984"/>
            <a:ext cx="2286000" cy="2286000"/>
            <a:chOff x="0" y="0"/>
            <a:chExt cx="602074" cy="60207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-8100000">
            <a:off x="17511341" y="2639163"/>
            <a:ext cx="2286000" cy="2286000"/>
            <a:chOff x="0" y="0"/>
            <a:chExt cx="602074" cy="60207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-8100000">
            <a:off x="15415315" y="8891625"/>
            <a:ext cx="2762250" cy="2762250"/>
            <a:chOff x="0" y="0"/>
            <a:chExt cx="727506" cy="72750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27506" cy="727506"/>
            </a:xfrm>
            <a:custGeom>
              <a:avLst/>
              <a:gdLst/>
              <a:ahLst/>
              <a:cxnLst/>
              <a:rect r="r" b="b" t="t" l="l"/>
              <a:pathLst>
                <a:path h="727506" w="727506">
                  <a:moveTo>
                    <a:pt x="0" y="0"/>
                  </a:moveTo>
                  <a:lnTo>
                    <a:pt x="727506" y="0"/>
                  </a:lnTo>
                  <a:lnTo>
                    <a:pt x="727506" y="727506"/>
                  </a:lnTo>
                  <a:lnTo>
                    <a:pt x="0" y="727506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100000"/>
                  </a:srgbClr>
                </a:gs>
                <a:gs pos="100000">
                  <a:srgbClr val="4CACE1">
                    <a:alpha val="100000"/>
                  </a:srgbClr>
                </a:gs>
              </a:gsLst>
              <a:lin ang="0"/>
            </a:gra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727506" cy="765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2056" y="1234295"/>
            <a:ext cx="12383889" cy="118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CONCLUSIO</a:t>
            </a:r>
            <a:r>
              <a:rPr lang="en-US" sz="69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 &amp; FUTURE WORK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87230" y="3427801"/>
            <a:ext cx="13713541" cy="574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1" indent="-410210" lvl="1">
              <a:lnSpc>
                <a:spcPts val="570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Summa</a:t>
            </a: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ry:</a:t>
            </a:r>
          </a:p>
          <a:p>
            <a:pPr algn="l" marL="1597662" indent="-532554" lvl="2">
              <a:lnSpc>
                <a:spcPts val="5550"/>
              </a:lnSpc>
              <a:buFont typeface="Arial"/>
              <a:buChar char="⚬"/>
            </a:pPr>
            <a:r>
              <a:rPr lang="en-US" sz="37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Outliers were detected and removed.</a:t>
            </a:r>
          </a:p>
          <a:p>
            <a:pPr algn="l" marL="1597662" indent="-532554" lvl="2">
              <a:lnSpc>
                <a:spcPts val="5550"/>
              </a:lnSpc>
              <a:buFont typeface="Arial"/>
              <a:buChar char="⚬"/>
            </a:pPr>
            <a:r>
              <a:rPr lang="en-US" sz="37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Clusters representing Gamma and Hadron events were identified.</a:t>
            </a:r>
          </a:p>
          <a:p>
            <a:pPr algn="l" marL="1597662" indent="-532554" lvl="2">
              <a:lnSpc>
                <a:spcPts val="5550"/>
              </a:lnSpc>
              <a:buFont typeface="Arial"/>
              <a:buChar char="⚬"/>
            </a:pPr>
            <a:r>
              <a:rPr lang="en-US" sz="37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Frequent itemsets and associ</a:t>
            </a:r>
            <a:r>
              <a:rPr lang="en-US" sz="37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ation rules revealed interest</a:t>
            </a:r>
            <a:r>
              <a:rPr lang="en-US" sz="37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ing patterns.</a:t>
            </a:r>
          </a:p>
          <a:p>
            <a:pPr algn="l" marL="820421" indent="-410210" lvl="1">
              <a:lnSpc>
                <a:spcPts val="5700"/>
              </a:lnSpc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F</a:t>
            </a:r>
            <a:r>
              <a:rPr lang="en-US" b="true" sz="3800">
                <a:solidFill>
                  <a:srgbClr val="000000"/>
                </a:solidFill>
                <a:latin typeface="29LT Zarid Serif Bold"/>
                <a:ea typeface="29LT Zarid Serif Bold"/>
                <a:cs typeface="29LT Zarid Serif Bold"/>
                <a:sym typeface="29LT Zarid Serif Bold"/>
              </a:rPr>
              <a:t>uture Work:</a:t>
            </a:r>
          </a:p>
          <a:p>
            <a:pPr algn="l" marL="1597662" indent="-532554" lvl="2">
              <a:lnSpc>
                <a:spcPts val="5550"/>
              </a:lnSpc>
              <a:buFont typeface="Arial"/>
              <a:buChar char="⚬"/>
            </a:pPr>
            <a:r>
              <a:rPr lang="en-US" sz="37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Implement more advanced models like XGBoost or Deep Learning.</a:t>
            </a:r>
          </a:p>
          <a:p>
            <a:pPr algn="l" marL="1597662" indent="-532554" lvl="2">
              <a:lnSpc>
                <a:spcPts val="5550"/>
              </a:lnSpc>
              <a:buFont typeface="Arial"/>
              <a:buChar char="⚬"/>
            </a:pPr>
            <a:r>
              <a:rPr lang="en-US" sz="3700">
                <a:solidFill>
                  <a:srgbClr val="000000"/>
                </a:solidFill>
                <a:latin typeface="29LT Zarid Serif"/>
                <a:ea typeface="29LT Zarid Serif"/>
                <a:cs typeface="29LT Zarid Serif"/>
                <a:sym typeface="29LT Zarid Serif"/>
              </a:rPr>
              <a:t>Explore other feature engineering techniques or dimensionality reduction methods.</a:t>
            </a:r>
          </a:p>
        </p:txBody>
      </p:sp>
      <p:grpSp>
        <p:nvGrpSpPr>
          <p:cNvPr name="Group 4" id="4"/>
          <p:cNvGrpSpPr/>
          <p:nvPr/>
        </p:nvGrpSpPr>
        <p:grpSpPr>
          <a:xfrm rot="-2700000">
            <a:off x="-1151682" y="3171554"/>
            <a:ext cx="3544221" cy="11737167"/>
            <a:chOff x="0" y="0"/>
            <a:chExt cx="933457" cy="30912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3457" cy="3091270"/>
            </a:xfrm>
            <a:custGeom>
              <a:avLst/>
              <a:gdLst/>
              <a:ahLst/>
              <a:cxnLst/>
              <a:rect r="r" b="b" t="t" l="l"/>
              <a:pathLst>
                <a:path h="3091270" w="933457">
                  <a:moveTo>
                    <a:pt x="0" y="0"/>
                  </a:moveTo>
                  <a:lnTo>
                    <a:pt x="933457" y="0"/>
                  </a:lnTo>
                  <a:lnTo>
                    <a:pt x="933457" y="3091270"/>
                  </a:lnTo>
                  <a:lnTo>
                    <a:pt x="0" y="3091270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25000"/>
                  </a:srgbClr>
                </a:gs>
                <a:gs pos="100000">
                  <a:srgbClr val="4CACE1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33457" cy="3129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2700000">
            <a:off x="-310565" y="-959239"/>
            <a:ext cx="3121340" cy="3086100"/>
            <a:chOff x="0" y="0"/>
            <a:chExt cx="822081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2700000">
            <a:off x="-3222655" y="713190"/>
            <a:ext cx="3121340" cy="3086100"/>
            <a:chOff x="0" y="0"/>
            <a:chExt cx="822081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2700000">
            <a:off x="-472216" y="2892016"/>
            <a:ext cx="2286000" cy="2286000"/>
            <a:chOff x="0" y="0"/>
            <a:chExt cx="602074" cy="6020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2700000">
            <a:off x="-1509341" y="5361837"/>
            <a:ext cx="2286000" cy="2286000"/>
            <a:chOff x="0" y="0"/>
            <a:chExt cx="602074" cy="6020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2700000">
            <a:off x="110435" y="-1366875"/>
            <a:ext cx="2762250" cy="2762250"/>
            <a:chOff x="0" y="0"/>
            <a:chExt cx="727506" cy="72750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27506" cy="727506"/>
            </a:xfrm>
            <a:custGeom>
              <a:avLst/>
              <a:gdLst/>
              <a:ahLst/>
              <a:cxnLst/>
              <a:rect r="r" b="b" t="t" l="l"/>
              <a:pathLst>
                <a:path h="727506" w="727506">
                  <a:moveTo>
                    <a:pt x="0" y="0"/>
                  </a:moveTo>
                  <a:lnTo>
                    <a:pt x="727506" y="0"/>
                  </a:lnTo>
                  <a:lnTo>
                    <a:pt x="727506" y="727506"/>
                  </a:lnTo>
                  <a:lnTo>
                    <a:pt x="0" y="727506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100000"/>
                  </a:srgbClr>
                </a:gs>
                <a:gs pos="100000">
                  <a:srgbClr val="4CACE1">
                    <a:alpha val="100000"/>
                  </a:srgbClr>
                </a:gs>
              </a:gsLst>
              <a:lin ang="0"/>
            </a:gra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27506" cy="765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8100000">
            <a:off x="15895461" y="-4621721"/>
            <a:ext cx="3544221" cy="11737167"/>
            <a:chOff x="0" y="0"/>
            <a:chExt cx="933457" cy="30912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33457" cy="3091270"/>
            </a:xfrm>
            <a:custGeom>
              <a:avLst/>
              <a:gdLst/>
              <a:ahLst/>
              <a:cxnLst/>
              <a:rect r="r" b="b" t="t" l="l"/>
              <a:pathLst>
                <a:path h="3091270" w="933457">
                  <a:moveTo>
                    <a:pt x="0" y="0"/>
                  </a:moveTo>
                  <a:lnTo>
                    <a:pt x="933457" y="0"/>
                  </a:lnTo>
                  <a:lnTo>
                    <a:pt x="933457" y="3091270"/>
                  </a:lnTo>
                  <a:lnTo>
                    <a:pt x="0" y="3091270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25000"/>
                  </a:srgbClr>
                </a:gs>
                <a:gs pos="100000">
                  <a:srgbClr val="4CACE1">
                    <a:alpha val="25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33457" cy="3129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-8100000">
            <a:off x="15477225" y="8160139"/>
            <a:ext cx="3121340" cy="3086100"/>
            <a:chOff x="0" y="0"/>
            <a:chExt cx="822081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8100000">
            <a:off x="18389315" y="6487710"/>
            <a:ext cx="3121340" cy="3086100"/>
            <a:chOff x="0" y="0"/>
            <a:chExt cx="822081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8100000">
            <a:off x="16474216" y="5108984"/>
            <a:ext cx="2286000" cy="2286000"/>
            <a:chOff x="0" y="0"/>
            <a:chExt cx="602074" cy="60207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-8100000">
            <a:off x="17511341" y="2639163"/>
            <a:ext cx="2286000" cy="2286000"/>
            <a:chOff x="0" y="0"/>
            <a:chExt cx="602074" cy="60207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-8100000">
            <a:off x="15415315" y="8891625"/>
            <a:ext cx="2762250" cy="2762250"/>
            <a:chOff x="0" y="0"/>
            <a:chExt cx="727506" cy="72750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27506" cy="727506"/>
            </a:xfrm>
            <a:custGeom>
              <a:avLst/>
              <a:gdLst/>
              <a:ahLst/>
              <a:cxnLst/>
              <a:rect r="r" b="b" t="t" l="l"/>
              <a:pathLst>
                <a:path h="727506" w="727506">
                  <a:moveTo>
                    <a:pt x="0" y="0"/>
                  </a:moveTo>
                  <a:lnTo>
                    <a:pt x="727506" y="0"/>
                  </a:lnTo>
                  <a:lnTo>
                    <a:pt x="727506" y="727506"/>
                  </a:lnTo>
                  <a:lnTo>
                    <a:pt x="0" y="727506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100000"/>
                  </a:srgbClr>
                </a:gs>
                <a:gs pos="100000">
                  <a:srgbClr val="4CACE1">
                    <a:alpha val="100000"/>
                  </a:srgbClr>
                </a:gs>
              </a:gsLst>
              <a:lin ang="0"/>
            </a:gra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727506" cy="765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212121">
                <a:alpha val="100000"/>
              </a:srgbClr>
            </a:gs>
            <a:gs pos="100000">
              <a:srgbClr val="4CACE1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700000">
            <a:off x="14600277" y="7527554"/>
            <a:ext cx="2286000" cy="2286000"/>
            <a:chOff x="0" y="0"/>
            <a:chExt cx="602074" cy="6020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2700000">
            <a:off x="17145000" y="6498854"/>
            <a:ext cx="2286000" cy="2286000"/>
            <a:chOff x="0" y="0"/>
            <a:chExt cx="602074" cy="6020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FCFCFC"/>
            </a:solidFill>
            <a:ln w="4762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2700000">
            <a:off x="14837000" y="3429000"/>
            <a:ext cx="3429000" cy="3429000"/>
            <a:chOff x="0" y="0"/>
            <a:chExt cx="903111" cy="9031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03111" cy="903111"/>
            </a:xfrm>
            <a:custGeom>
              <a:avLst/>
              <a:gdLst/>
              <a:ahLst/>
              <a:cxnLst/>
              <a:rect r="r" b="b" t="t" l="l"/>
              <a:pathLst>
                <a:path h="903111" w="903111">
                  <a:moveTo>
                    <a:pt x="0" y="0"/>
                  </a:moveTo>
                  <a:lnTo>
                    <a:pt x="903111" y="0"/>
                  </a:lnTo>
                  <a:lnTo>
                    <a:pt x="903111" y="903111"/>
                  </a:lnTo>
                  <a:lnTo>
                    <a:pt x="0" y="903111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100000"/>
                  </a:srgbClr>
                </a:gs>
                <a:gs pos="100000">
                  <a:srgbClr val="4CACE1">
                    <a:alpha val="100000"/>
                  </a:srgbClr>
                </a:gs>
              </a:gsLst>
              <a:lin ang="0"/>
            </a:gradFill>
            <a:ln w="190500" cap="sq">
              <a:solidFill>
                <a:srgbClr val="212121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03111" cy="941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2700000">
            <a:off x="12566161" y="9594845"/>
            <a:ext cx="3121340" cy="3086100"/>
            <a:chOff x="0" y="0"/>
            <a:chExt cx="822081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2700000">
            <a:off x="15955364" y="9594845"/>
            <a:ext cx="3121340" cy="3086100"/>
            <a:chOff x="0" y="0"/>
            <a:chExt cx="822081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gradFill>
                <a:gsLst>
                  <a:gs pos="0">
                    <a:srgbClr val="212121">
                      <a:alpha val="100000"/>
                    </a:srgbClr>
                  </a:gs>
                  <a:gs pos="100000">
                    <a:srgbClr val="4CACE1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2700000">
            <a:off x="18047051" y="671570"/>
            <a:ext cx="4572000" cy="4572000"/>
            <a:chOff x="0" y="0"/>
            <a:chExt cx="1204148" cy="12041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04148" cy="1204148"/>
            </a:xfrm>
            <a:custGeom>
              <a:avLst/>
              <a:gdLst/>
              <a:ahLst/>
              <a:cxnLst/>
              <a:rect r="r" b="b" t="t" l="l"/>
              <a:pathLst>
                <a:path h="1204148" w="1204148">
                  <a:moveTo>
                    <a:pt x="0" y="0"/>
                  </a:moveTo>
                  <a:lnTo>
                    <a:pt x="1204148" y="0"/>
                  </a:lnTo>
                  <a:lnTo>
                    <a:pt x="1204148" y="1204148"/>
                  </a:lnTo>
                  <a:lnTo>
                    <a:pt x="0" y="1204148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100000"/>
                  </a:srgbClr>
                </a:gs>
                <a:gs pos="100000">
                  <a:srgbClr val="4CACE1">
                    <a:alpha val="100000"/>
                  </a:srgbClr>
                </a:gs>
              </a:gsLst>
              <a:lin ang="0"/>
            </a:gradFill>
            <a:ln w="1905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04148" cy="12422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2700000">
            <a:off x="-337830" y="-973488"/>
            <a:ext cx="3121340" cy="3086100"/>
            <a:chOff x="0" y="0"/>
            <a:chExt cx="822081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189FD7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2700000">
            <a:off x="-3249920" y="698940"/>
            <a:ext cx="3121340" cy="3086100"/>
            <a:chOff x="0" y="0"/>
            <a:chExt cx="822081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081" cy="812800"/>
            </a:xfrm>
            <a:custGeom>
              <a:avLst/>
              <a:gdLst/>
              <a:ahLst/>
              <a:cxnLst/>
              <a:rect r="r" b="b" t="t" l="l"/>
              <a:pathLst>
                <a:path h="812800" w="822081">
                  <a:moveTo>
                    <a:pt x="0" y="0"/>
                  </a:moveTo>
                  <a:lnTo>
                    <a:pt x="822081" y="0"/>
                  </a:lnTo>
                  <a:lnTo>
                    <a:pt x="82208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E5E5E5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22081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2700000">
            <a:off x="-499481" y="2877766"/>
            <a:ext cx="2286000" cy="2286000"/>
            <a:chOff x="0" y="0"/>
            <a:chExt cx="602074" cy="60207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189FD7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2700000">
            <a:off x="-1536606" y="5347587"/>
            <a:ext cx="2286000" cy="2286000"/>
            <a:chOff x="0" y="0"/>
            <a:chExt cx="602074" cy="60207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02074" cy="602074"/>
            </a:xfrm>
            <a:custGeom>
              <a:avLst/>
              <a:gdLst/>
              <a:ahLst/>
              <a:cxnLst/>
              <a:rect r="r" b="b" t="t" l="l"/>
              <a:pathLst>
                <a:path h="602074" w="602074">
                  <a:moveTo>
                    <a:pt x="0" y="0"/>
                  </a:moveTo>
                  <a:lnTo>
                    <a:pt x="602074" y="0"/>
                  </a:lnTo>
                  <a:lnTo>
                    <a:pt x="602074" y="602074"/>
                  </a:lnTo>
                  <a:lnTo>
                    <a:pt x="0" y="6020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FCFCFC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02074" cy="640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2645146" y="1994340"/>
            <a:ext cx="12387037" cy="222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9"/>
              </a:lnSpc>
            </a:pPr>
            <a:r>
              <a:rPr lang="en-US" sz="12999">
                <a:solidFill>
                  <a:srgbClr val="FCFCFC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THANK YOU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804242" y="3860800"/>
            <a:ext cx="9741186" cy="128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i="true">
                <a:solidFill>
                  <a:srgbClr val="FCFCFC"/>
                </a:solidFill>
                <a:latin typeface="29LT Zarid Serif Italics"/>
                <a:ea typeface="29LT Zarid Serif Italics"/>
                <a:cs typeface="29LT Zarid Serif Italics"/>
                <a:sym typeface="29LT Zarid Serif Italics"/>
              </a:rPr>
              <a:t>DR: Reham Hussein</a:t>
            </a:r>
          </a:p>
        </p:txBody>
      </p:sp>
      <p:grpSp>
        <p:nvGrpSpPr>
          <p:cNvPr name="Group 34" id="34"/>
          <p:cNvGrpSpPr/>
          <p:nvPr/>
        </p:nvGrpSpPr>
        <p:grpSpPr>
          <a:xfrm rot="2700000">
            <a:off x="359146" y="8340691"/>
            <a:ext cx="4572000" cy="4572000"/>
            <a:chOff x="0" y="0"/>
            <a:chExt cx="1204148" cy="120414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04148" cy="1204148"/>
            </a:xfrm>
            <a:custGeom>
              <a:avLst/>
              <a:gdLst/>
              <a:ahLst/>
              <a:cxnLst/>
              <a:rect r="r" b="b" t="t" l="l"/>
              <a:pathLst>
                <a:path h="1204148" w="1204148">
                  <a:moveTo>
                    <a:pt x="0" y="0"/>
                  </a:moveTo>
                  <a:lnTo>
                    <a:pt x="1204148" y="0"/>
                  </a:lnTo>
                  <a:lnTo>
                    <a:pt x="1204148" y="1204148"/>
                  </a:lnTo>
                  <a:lnTo>
                    <a:pt x="0" y="1204148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100000"/>
                  </a:srgbClr>
                </a:gs>
                <a:gs pos="100000">
                  <a:srgbClr val="4CACE1">
                    <a:alpha val="100000"/>
                  </a:srgbClr>
                </a:gs>
              </a:gsLst>
              <a:lin ang="0"/>
            </a:gradFill>
            <a:ln w="190500" cap="sq">
              <a:solidFill>
                <a:srgbClr val="1563CE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204148" cy="12422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2700000">
            <a:off x="5086541" y="9639342"/>
            <a:ext cx="4572000" cy="4572000"/>
            <a:chOff x="0" y="0"/>
            <a:chExt cx="1204148" cy="120414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04148" cy="1204148"/>
            </a:xfrm>
            <a:custGeom>
              <a:avLst/>
              <a:gdLst/>
              <a:ahLst/>
              <a:cxnLst/>
              <a:rect r="r" b="b" t="t" l="l"/>
              <a:pathLst>
                <a:path h="1204148" w="1204148">
                  <a:moveTo>
                    <a:pt x="0" y="0"/>
                  </a:moveTo>
                  <a:lnTo>
                    <a:pt x="1204148" y="0"/>
                  </a:lnTo>
                  <a:lnTo>
                    <a:pt x="1204148" y="1204148"/>
                  </a:lnTo>
                  <a:lnTo>
                    <a:pt x="0" y="1204148"/>
                  </a:lnTo>
                  <a:close/>
                </a:path>
              </a:pathLst>
            </a:custGeom>
            <a:gradFill rotWithShape="true">
              <a:gsLst>
                <a:gs pos="0">
                  <a:srgbClr val="212121">
                    <a:alpha val="100000"/>
                  </a:srgbClr>
                </a:gs>
                <a:gs pos="100000">
                  <a:srgbClr val="4CACE1">
                    <a:alpha val="100000"/>
                  </a:srgbClr>
                </a:gs>
              </a:gsLst>
              <a:lin ang="0"/>
            </a:gradFill>
            <a:ln w="1905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204148" cy="12422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DAG5d6pEu1U</dc:identifier>
  <dcterms:modified xsi:type="dcterms:W3CDTF">2011-08-01T06:04:30Z</dcterms:modified>
  <cp:revision>1</cp:revision>
  <dc:title>White Blue Modern Square Geometric Presentation</dc:title>
</cp:coreProperties>
</file>